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6.xml" ContentType="application/vnd.openxmlformats-officedocument.presentationml.slideMaster+xml"/>
  <Override PartName="/ppt/theme/theme10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5.xml" ContentType="application/vnd.openxmlformats-officedocument.theme+xml"/>
  <Override PartName="/ppt/theme/theme19.xml" ContentType="application/vnd.openxmlformats-officedocument.theme+xml"/>
  <Override PartName="/ppt/theme/theme15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8.xml" ContentType="application/vnd.openxmlformats-officedocument.theme+xml"/>
  <Override PartName="/ppt/theme/theme14.xml" ContentType="application/vnd.openxmlformats-officedocument.theme+xml"/>
  <Override PartName="/ppt/theme/theme13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9.xml" ContentType="application/vnd.openxmlformats-officedocument.theme+xml"/>
  <Override PartName="/ppt/theme/theme4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3" r:id="rId4"/>
    <p:sldMasterId id="2147483655" r:id="rId5"/>
    <p:sldMasterId id="2147483657" r:id="rId6"/>
    <p:sldMasterId id="2147483659" r:id="rId7"/>
    <p:sldMasterId id="2147483661" r:id="rId8"/>
    <p:sldMasterId id="2147483663" r:id="rId9"/>
    <p:sldMasterId id="2147483665" r:id="rId10"/>
    <p:sldMasterId id="2147483667" r:id="rId11"/>
    <p:sldMasterId id="2147483669" r:id="rId12"/>
    <p:sldMasterId id="2147483671" r:id="rId13"/>
    <p:sldMasterId id="2147483673" r:id="rId14"/>
    <p:sldMasterId id="2147483675" r:id="rId15"/>
    <p:sldMasterId id="2147483677" r:id="rId16"/>
    <p:sldMasterId id="2147483679" r:id="rId17"/>
    <p:sldMasterId id="2147483681" r:id="rId18"/>
    <p:sldMasterId id="2147483682" r:id="rId19"/>
  </p:sldMasterIdLst>
  <p:notesMasterIdLst>
    <p:notesMasterId r:id="rId20"/>
  </p:notesMasterIdLst>
  <p:sldIdLst>
    <p:sldId id="256" r:id="rId21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4" r:id="rId29"/>
    <p:sldId id="265" r:id="rId30"/>
    <p:sldId id="266" r:id="rId31"/>
    <p:sldId id="267" r:id="rId32"/>
    <p:sldId id="268" r:id="rId33"/>
    <p:sldId id="269" r:id="rId34"/>
    <p:sldId id="270" r:id="rId35"/>
    <p:sldId id="271" r:id="rId36"/>
    <p:sldId id="272" r:id="rId37"/>
    <p:sldId id="273" r:id="rId3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notesMaster" Target="notesMasters/notesMaster1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slide" Target="slides/slide3.xml"/><Relationship Id="rId24" Type="http://schemas.openxmlformats.org/officeDocument/2006/relationships/slide" Target="slides/slide4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Relationship Id="rId3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9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PlaceHolder 4"/>
          <p:cNvSpPr>
            <a:spLocks noGrp="1"/>
          </p:cNvSpPr>
          <p:nvPr>
            <p:ph type="dt" idx="55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PlaceHolder 5"/>
          <p:cNvSpPr>
            <a:spLocks noGrp="1"/>
          </p:cNvSpPr>
          <p:nvPr>
            <p:ph type="ftr" idx="56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PlaceHolder 6"/>
          <p:cNvSpPr>
            <a:spLocks noGrp="1"/>
          </p:cNvSpPr>
          <p:nvPr>
            <p:ph type="sldNum" idx="57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06CC27D-DF9C-445C-ACED-DA475261DF7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C9EDF34-9C8C-4DAA-B941-585BE763C6C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  <a:tabLst>
                <a:tab pos="0" algn="l"/>
              </a:tabLst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3CFEEED-46B3-4C5B-93BF-2826EABBB0C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  <a:tabLst>
                <a:tab pos="0" algn="l"/>
              </a:tabLst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ubTitle"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6AB97F0-FE66-498D-9A51-80BACDA1720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  <a:tabLst>
                <a:tab pos="0" algn="l"/>
              </a:tabLst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974E1CF-CAC6-471A-82D1-CE72253875A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  <a:tabLst>
                <a:tab pos="0" algn="l"/>
              </a:tabLst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CC8588D-CD69-445F-B0E8-5D61D95B50F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  <a:tabLst>
                <a:tab pos="0" algn="l"/>
              </a:tabLst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CBF46F87-BE63-4D1A-BA5A-7CF519BF5F3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  <a:tabLst>
                <a:tab pos="0" algn="l"/>
              </a:tabLst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0E755A2-117A-45F0-8195-67543786136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  <a:tabLst>
                <a:tab pos="0" algn="l"/>
              </a:tabLst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B6E8158D-7B01-400C-8154-A1C015611BE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  <a:tabLst>
                <a:tab pos="0" algn="l"/>
              </a:tabLst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6106A7CD-E973-477E-98D6-583B22E5F13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  <a:tabLst>
                <a:tab pos="0" algn="l"/>
              </a:tabLst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B453A0A6-B970-4AE1-8F99-DF744533F7A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  <a:tabLst>
                <a:tab pos="0" algn="l"/>
              </a:tabLst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760DA106-082C-4756-8F5D-6A5A78666B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  <a:tabLst>
                <a:tab pos="0" algn="l"/>
              </a:tabLst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6B0E87E1-85E0-4818-B5F5-0E6300E47D3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  <a:tabLst>
                <a:tab pos="0" algn="l"/>
              </a:tabLst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96AA8CB2-DB26-4EE8-8CDF-47876ECC29A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  <a:tabLst>
                <a:tab pos="0" algn="l"/>
              </a:tabLst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D81836B9-26D9-422B-AF4A-CB26E651E9B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  <a:tabLst>
                <a:tab pos="0" algn="l"/>
              </a:tabLst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9FD1B082-E971-4327-9C54-14E2E65D221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  <a:tabLst>
                <a:tab pos="0" algn="l"/>
              </a:tabLst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2"/>
          </p:nvPr>
        </p:nvSpPr>
        <p:spPr/>
        <p:txBody>
          <a:bodyPr/>
          <a:p>
            <a:fld id="{08367E35-D53E-42B3-A7BB-CD44CB9EBC7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  <a:tabLst>
                <a:tab pos="0" algn="l"/>
              </a:tabLst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p>
            <a:fld id="{C62C3886-5734-4704-85B3-85E20F90896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  <a:tabLst>
                <a:tab pos="0" algn="l"/>
              </a:tabLst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8"/>
          </p:nvPr>
        </p:nvSpPr>
        <p:spPr/>
        <p:txBody>
          <a:bodyPr/>
          <a:p>
            <a:fld id="{2B336B89-72A5-45F9-B47A-07B5F269911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5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6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7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8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9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10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1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6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7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3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4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5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3" name="Group 6"/>
          <p:cNvGrpSpPr/>
          <p:nvPr/>
        </p:nvGrpSpPr>
        <p:grpSpPr>
          <a:xfrm>
            <a:off x="720" y="-8640"/>
            <a:ext cx="12190680" cy="6867000"/>
            <a:chOff x="720" y="-8640"/>
            <a:chExt cx="12190680" cy="6867000"/>
          </a:xfrm>
        </p:grpSpPr>
        <p:cxnSp>
          <p:nvCxnSpPr>
            <p:cNvPr id="14" name="Straight Connector 31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15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16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Isosceles Triangle 26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" name="Isosceles Triangle 30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" name="Isosceles Triangle 18"/>
            <p:cNvSpPr/>
            <p:nvPr/>
          </p:nvSpPr>
          <p:spPr>
            <a:xfrm rot="10800000">
              <a:off x="720" y="720"/>
              <a:ext cx="842040" cy="56653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77160" y="446400"/>
            <a:ext cx="8596080" cy="164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ftr" idx="1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sldNum" idx="2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4978425-34E9-43FA-AB50-37AED0DFD231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3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34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35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36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4183200" cy="388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5090040" y="2160720"/>
            <a:ext cx="4183200" cy="388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4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5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6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6311CD9-BDEF-4EF7-AB29-F0F89DE1BECA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53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54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55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675720" y="2161080"/>
            <a:ext cx="4185000" cy="575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675720" y="2737080"/>
            <a:ext cx="4185000" cy="330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5088240" y="2161080"/>
            <a:ext cx="4185000" cy="575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body"/>
          </p:nvPr>
        </p:nvSpPr>
        <p:spPr>
          <a:xfrm>
            <a:off x="5088240" y="2737080"/>
            <a:ext cx="4185000" cy="330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dt" idx="7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7"/>
          <p:cNvSpPr>
            <a:spLocks noGrp="1"/>
          </p:cNvSpPr>
          <p:nvPr>
            <p:ph type="ftr" idx="8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8"/>
          <p:cNvSpPr>
            <a:spLocks noGrp="1"/>
          </p:cNvSpPr>
          <p:nvPr>
            <p:ph type="sldNum" idx="9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6B4453C-944F-4534-92F0-9C9E44EDFFE7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74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75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76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dt" idx="10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ftr" idx="11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 type="sldNum" idx="12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F226AD0-84F3-4D5D-B880-9AEA763DA35A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91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92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93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77160" y="1498680"/>
            <a:ext cx="3853800" cy="12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20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4760640" y="514800"/>
            <a:ext cx="4512960" cy="5525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body"/>
          </p:nvPr>
        </p:nvSpPr>
        <p:spPr>
          <a:xfrm>
            <a:off x="677160" y="2777040"/>
            <a:ext cx="3853800" cy="258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 type="dt" idx="13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5"/>
          <p:cNvSpPr>
            <a:spLocks noGrp="1"/>
          </p:cNvSpPr>
          <p:nvPr>
            <p:ph type="ftr" idx="14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PlaceHolder 6"/>
          <p:cNvSpPr>
            <a:spLocks noGrp="1"/>
          </p:cNvSpPr>
          <p:nvPr>
            <p:ph type="sldNum" idx="15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14109E0-7358-4912-89A4-3EE28D7CEF45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110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111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112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677160" y="4800600"/>
            <a:ext cx="85960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2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77160" y="609480"/>
            <a:ext cx="8596080" cy="3845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indent="0" algn="ctr" defTabSz="457200">
              <a:lnSpc>
                <a:spcPct val="100000"/>
              </a:lnSpc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rebuchet MS"/>
              </a:defRPr>
            </a:lvl1pPr>
          </a:lstStyle>
          <a:p>
            <a:pPr indent="0" algn="ctr" defTabSz="4572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icon to add picture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body"/>
          </p:nvPr>
        </p:nvSpPr>
        <p:spPr>
          <a:xfrm>
            <a:off x="677160" y="5367240"/>
            <a:ext cx="8596080" cy="673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 type="dt" idx="16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 type="ftr" idx="17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6"/>
          <p:cNvSpPr>
            <a:spLocks noGrp="1"/>
          </p:cNvSpPr>
          <p:nvPr>
            <p:ph type="sldNum" idx="18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84C3778-F785-4BE2-A2FC-ECA3FD81640B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129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130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131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340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 type="body"/>
          </p:nvPr>
        </p:nvSpPr>
        <p:spPr>
          <a:xfrm>
            <a:off x="677160" y="4470480"/>
            <a:ext cx="8596080" cy="1570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 type="dt" idx="19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4"/>
          <p:cNvSpPr>
            <a:spLocks noGrp="1"/>
          </p:cNvSpPr>
          <p:nvPr>
            <p:ph type="ftr" idx="20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PlaceHolder 5"/>
          <p:cNvSpPr>
            <a:spLocks noGrp="1"/>
          </p:cNvSpPr>
          <p:nvPr>
            <p:ph type="sldNum" idx="21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7A3305B-B9BA-4756-ADA6-40923D705F23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147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148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149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931320" y="609480"/>
            <a:ext cx="8093520" cy="302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1366200" y="3632040"/>
            <a:ext cx="722376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  <a:defRPr lang="en-US" sz="16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body"/>
          </p:nvPr>
        </p:nvSpPr>
        <p:spPr>
          <a:xfrm>
            <a:off x="677160" y="4470480"/>
            <a:ext cx="8596080" cy="1570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dt" idx="22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 type="ftr" idx="23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 type="sldNum" idx="24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1284D7E-50CE-4BC2-89DA-5E8EFC2C55DE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TextBox 19"/>
          <p:cNvSpPr/>
          <p:nvPr/>
        </p:nvSpPr>
        <p:spPr>
          <a:xfrm>
            <a:off x="541800" y="79020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“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1"/>
          <p:cNvSpPr/>
          <p:nvPr/>
        </p:nvSpPr>
        <p:spPr>
          <a:xfrm>
            <a:off x="8893080" y="288648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”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7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168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169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170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3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7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677160" y="1932120"/>
            <a:ext cx="8596080" cy="259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6080" cy="151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dt" idx="25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 type="ftr" idx="26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PlaceHolder 5"/>
          <p:cNvSpPr>
            <a:spLocks noGrp="1"/>
          </p:cNvSpPr>
          <p:nvPr>
            <p:ph type="sldNum" idx="27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DA06A20-DD85-4DA2-889A-AFF04C8EF8FC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186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187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188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9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0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4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5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931320" y="609480"/>
            <a:ext cx="8093520" cy="302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77160" y="4013280"/>
            <a:ext cx="8596080" cy="5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  <a:def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4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6080" cy="151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 type="dt" idx="28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PlaceHolder 5"/>
          <p:cNvSpPr>
            <a:spLocks noGrp="1"/>
          </p:cNvSpPr>
          <p:nvPr>
            <p:ph type="ftr" idx="29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PlaceHolder 6"/>
          <p:cNvSpPr>
            <a:spLocks noGrp="1"/>
          </p:cNvSpPr>
          <p:nvPr>
            <p:ph type="sldNum" idx="30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9961120-8057-4A7D-B0A1-24729A765B57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TextBox 23"/>
          <p:cNvSpPr/>
          <p:nvPr/>
        </p:nvSpPr>
        <p:spPr>
          <a:xfrm>
            <a:off x="541800" y="79020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“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Box 24"/>
          <p:cNvSpPr/>
          <p:nvPr/>
        </p:nvSpPr>
        <p:spPr>
          <a:xfrm>
            <a:off x="8893080" y="288648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”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6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207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208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209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0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1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2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3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4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5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6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685800" y="609480"/>
            <a:ext cx="8587440" cy="302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77160" y="4013280"/>
            <a:ext cx="8596080" cy="5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  <a:defRPr lang="en-US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4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6080" cy="151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20" name="PlaceHolder 4"/>
          <p:cNvSpPr>
            <a:spLocks noGrp="1"/>
          </p:cNvSpPr>
          <p:nvPr>
            <p:ph type="dt" idx="31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PlaceHolder 5"/>
          <p:cNvSpPr>
            <a:spLocks noGrp="1"/>
          </p:cNvSpPr>
          <p:nvPr>
            <p:ph type="ftr" idx="32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PlaceHolder 6"/>
          <p:cNvSpPr>
            <a:spLocks noGrp="1"/>
          </p:cNvSpPr>
          <p:nvPr>
            <p:ph type="sldNum" idx="33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2CA380D-089E-4B81-A7BB-949267C29779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5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226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227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228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9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0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1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2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3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4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5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dt" idx="34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 type="ftr" idx="35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 type="sldNum" idx="36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180A723-C27F-4890-88DE-15635BAD0DE7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3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244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245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246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7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8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9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0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1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2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3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7967520" y="609480"/>
            <a:ext cx="1303920" cy="52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anchorCtr="1" vert="eaVer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677160" y="609480"/>
            <a:ext cx="7059600" cy="52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dt" idx="37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PlaceHolder 4"/>
          <p:cNvSpPr>
            <a:spLocks noGrp="1"/>
          </p:cNvSpPr>
          <p:nvPr>
            <p:ph type="ftr" idx="38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PlaceHolder 5"/>
          <p:cNvSpPr>
            <a:spLocks noGrp="1"/>
          </p:cNvSpPr>
          <p:nvPr>
            <p:ph type="sldNum" idx="39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B9434DF-C270-4635-8461-8D750D387082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4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262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263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264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5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6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7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8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9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0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1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677160" y="2700720"/>
            <a:ext cx="8596080" cy="182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0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6080" cy="85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  <a:defRPr lang="en-US" sz="20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0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dt" idx="40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 type="ftr" idx="41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 type="sldNum" idx="42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219BCC2-6CBB-42CB-A5A5-32926B238715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9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280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281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282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3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4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5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6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7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8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9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dt" idx="43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PlaceHolder 4"/>
          <p:cNvSpPr>
            <a:spLocks noGrp="1"/>
          </p:cNvSpPr>
          <p:nvPr>
            <p:ph type="ftr" idx="44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PlaceHolder 5"/>
          <p:cNvSpPr>
            <a:spLocks noGrp="1"/>
          </p:cNvSpPr>
          <p:nvPr>
            <p:ph type="sldNum" idx="45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213EF06-75B3-4BCF-AD0F-0E75781DA089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8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298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299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300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1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2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3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4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5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6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7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dt" idx="46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PlaceHolder 4"/>
          <p:cNvSpPr>
            <a:spLocks noGrp="1"/>
          </p:cNvSpPr>
          <p:nvPr>
            <p:ph type="ftr" idx="47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PlaceHolder 5"/>
          <p:cNvSpPr>
            <a:spLocks noGrp="1"/>
          </p:cNvSpPr>
          <p:nvPr>
            <p:ph type="sldNum" idx="48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D73B8E8-1D6C-4795-ADCA-3CFFEB6FDFA7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0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5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316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360">
              <a:solidFill>
                <a:srgbClr val="BFBFBF"/>
              </a:solidFill>
              <a:round/>
            </a:ln>
          </p:spPr>
        </p:cxnSp>
        <p:cxnSp>
          <p:nvCxnSpPr>
            <p:cNvPr id="317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360">
              <a:solidFill>
                <a:srgbClr val="D9D9D9"/>
              </a:solidFill>
              <a:round/>
            </a:ln>
          </p:spPr>
        </p:cxnSp>
        <p:sp>
          <p:nvSpPr>
            <p:cNvPr id="318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9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0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1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2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3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4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5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dist="25560" dir="5400000" blurRad="381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26" name="PlaceHolder 1"/>
          <p:cNvSpPr>
            <a:spLocks noGrp="1"/>
          </p:cNvSpPr>
          <p:nvPr>
            <p:ph type="dt" idx="49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 type="ftr" idx="50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51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46A9FEF-97E1-4B4B-85A9-C590B345AAF7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33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7pPr>
          </a:lstStyle>
          <a:p>
            <a:pPr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the outline text format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Outline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Outline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Outline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Outline Level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Sixth Outline Level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Seventh Outline Level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dt" idx="52"/>
          </p:nvPr>
        </p:nvSpPr>
        <p:spPr>
          <a:xfrm>
            <a:off x="457200" y="6356520"/>
            <a:ext cx="21340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 type="ftr" idx="53"/>
          </p:nvPr>
        </p:nvSpPr>
        <p:spPr>
          <a:xfrm>
            <a:off x="3124800" y="6356520"/>
            <a:ext cx="2895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54"/>
          </p:nvPr>
        </p:nvSpPr>
        <p:spPr>
          <a:xfrm>
            <a:off x="6554520" y="6356520"/>
            <a:ext cx="21340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6CCC878-B360-49BF-A0C0-521E553851F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slideLayout" Target="../slideLayouts/slideLayout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1449720" y="457200"/>
            <a:ext cx="7693920" cy="1025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lnSpcReduction="9999"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  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Trebuchet MS"/>
              </a:rPr>
              <a:t> Design and Implementation of a</a:t>
            </a:r>
            <a:br>
              <a:rPr sz="3200"/>
            </a:b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Trebuchet MS"/>
              </a:rPr>
              <a:t>Blockchain-Based E-Voting System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 type="subTitle"/>
          </p:nvPr>
        </p:nvSpPr>
        <p:spPr>
          <a:xfrm>
            <a:off x="2539080" y="2286000"/>
            <a:ext cx="5690160" cy="282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TEAM MEMBERS 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S.THILLAIARASAN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( 620822205114 )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M.RAMANA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( 620822205083 )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V.SUGUMARAN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( 620822205107 )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K.UDHAY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( 620822205117 )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GUIDE : MR. JEEVA. D, AP/IT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title"/>
          </p:nvPr>
        </p:nvSpPr>
        <p:spPr>
          <a:xfrm>
            <a:off x="90360" y="228600"/>
            <a:ext cx="859608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Objective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45" name="PlaceHolder 2"/>
          <p:cNvSpPr>
            <a:spLocks noGrp="1"/>
          </p:cNvSpPr>
          <p:nvPr>
            <p:ph/>
          </p:nvPr>
        </p:nvSpPr>
        <p:spPr>
          <a:xfrm>
            <a:off x="547560" y="1246320"/>
            <a:ext cx="8596080" cy="423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Design a secure, transparent E-voting system using blockchain.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Prevent vote tampering and duplicate voting via smart contracts.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Enable immutable, verifiable vote storage on a distributed ledger.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Reduce reliance on centralized authorities for counting and verification.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Provide a simple, user-friendly interface for voters and administrators.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Showcase a real-world governance application of blockchain technology.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202320" y="0"/>
            <a:ext cx="8255520" cy="132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Existing System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685800" y="954360"/>
            <a:ext cx="8081640" cy="2285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Centralized e-voting infrastructure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Limited transparency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Lack of  Verification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Managed by single authority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348" name="Content Placeholder 5"/>
          <p:cNvSpPr/>
          <p:nvPr/>
        </p:nvSpPr>
        <p:spPr>
          <a:xfrm>
            <a:off x="685800" y="4215960"/>
            <a:ext cx="8081640" cy="241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Operational issues: Manual audits required to gain confidence in results. High operational and verification costs.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Security concerns: Single point of failure. Vulnerable to hacking, data manipulation, and insider threats.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Result: Lack of voter trust and difficult independent auditing.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Rectangle 3"/>
          <p:cNvSpPr/>
          <p:nvPr/>
        </p:nvSpPr>
        <p:spPr>
          <a:xfrm>
            <a:off x="228600" y="3240360"/>
            <a:ext cx="35013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Disadvantage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43560" y="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 Proposed System :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51" name="Rectangle 4"/>
          <p:cNvSpPr/>
          <p:nvPr/>
        </p:nvSpPr>
        <p:spPr>
          <a:xfrm>
            <a:off x="184680" y="3240360"/>
            <a:ext cx="31219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Advantage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Content Placeholder 6"/>
          <p:cNvSpPr/>
          <p:nvPr/>
        </p:nvSpPr>
        <p:spPr>
          <a:xfrm>
            <a:off x="558000" y="857880"/>
            <a:ext cx="8081640" cy="234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Decentralized blockchain-based voting: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No single point of failure.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data replicated across nodes.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Smart contracts: Encapsulate voter registration and voting logic. Automatically enforce election rules (phases, eligibility, one vote per user).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Content Placeholder 7"/>
          <p:cNvSpPr/>
          <p:nvPr/>
        </p:nvSpPr>
        <p:spPr>
          <a:xfrm>
            <a:off x="604800" y="3926880"/>
            <a:ext cx="8081640" cy="270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Immutable vote storage: Votes stored as blockchain transactions; tampering is detectable.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Transparent and auditable: Anyone can verify tallies on-chain.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Reduced manual work: Automated result computation and integrity checks.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Improved security: Strong cryptography, tamper-proof ledger, higher voter trust.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203400" y="152280"/>
            <a:ext cx="10311840" cy="99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SYSTEM ARCHITECTURE/FLOW DIAGRAM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pic>
        <p:nvPicPr>
          <p:cNvPr id="355" name=""/>
          <p:cNvPicPr/>
          <p:nvPr/>
        </p:nvPicPr>
        <p:blipFill>
          <a:blip r:embed="rId1"/>
          <a:stretch/>
        </p:blipFill>
        <p:spPr>
          <a:xfrm>
            <a:off x="751320" y="1143000"/>
            <a:ext cx="816372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457200" y="0"/>
            <a:ext cx="8000640" cy="91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 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57" name="PlaceHolder 2"/>
          <p:cNvSpPr>
            <a:spLocks noGrp="1"/>
          </p:cNvSpPr>
          <p:nvPr>
            <p:ph/>
          </p:nvPr>
        </p:nvSpPr>
        <p:spPr>
          <a:xfrm>
            <a:off x="90360" y="64800"/>
            <a:ext cx="8596080" cy="62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25000" lnSpcReduction="19999"/>
          </a:bodyPr>
          <a:p>
            <a:pPr marL="343080" indent="-343080" algn="just" defTabSz="4572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IN" sz="144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 Modules :</a:t>
            </a:r>
            <a:endParaRPr lang="en-US" sz="14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indent="0" algn="just" defTabSz="4572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358" name="Rectangle 4"/>
          <p:cNvSpPr/>
          <p:nvPr/>
        </p:nvSpPr>
        <p:spPr>
          <a:xfrm>
            <a:off x="275760" y="3599280"/>
            <a:ext cx="30312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Content Placeholder 8"/>
          <p:cNvSpPr/>
          <p:nvPr/>
        </p:nvSpPr>
        <p:spPr>
          <a:xfrm>
            <a:off x="1828800" y="2161080"/>
            <a:ext cx="8596080" cy="38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360" name="Content Placeholder 9"/>
          <p:cNvSpPr/>
          <p:nvPr/>
        </p:nvSpPr>
        <p:spPr>
          <a:xfrm>
            <a:off x="677520" y="1148760"/>
            <a:ext cx="8596080" cy="38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User Interface Module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Voter Registration Module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Voting Module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Vote Verification Module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Result Management Module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282600" y="156240"/>
            <a:ext cx="8596080" cy="52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MODULE 1: </a:t>
            </a:r>
            <a:r>
              <a:rPr lang="en-US" sz="3600" b="1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  <a:ea typeface="Noto Sans"/>
              </a:rPr>
              <a:t>User Interface Module</a:t>
            </a:r>
            <a:br>
              <a:rPr sz="3600"/>
            </a:b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62" name="PlaceHolder 2"/>
          <p:cNvSpPr>
            <a:spLocks noGrp="1"/>
          </p:cNvSpPr>
          <p:nvPr>
            <p:ph/>
          </p:nvPr>
        </p:nvSpPr>
        <p:spPr>
          <a:xfrm>
            <a:off x="750240" y="1194120"/>
            <a:ext cx="8596080" cy="520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Purpose: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Provide a secure, intuitive front-end for voters, admins, and auditors.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Key Responsibilities: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Present registration, voting, verification, and result views clearly.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Validate user input before sending data to backend/blockchain.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Handle user feedback: success messages, error alerts, and confirmations.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Key Features: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Responsive design for desktop and mobile.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(Optional) multi-language support.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Accessibility-aware layouts and controls.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Technology Stack: 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Web (HTML, CSS, JavaScript).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Styling (Modern CSS/glassmorphism or TailwindCSS). 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Integration (Express REST APIs, ethers.js, Ganache).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840" cy="52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MODULE 2: </a:t>
            </a:r>
            <a:r>
              <a:rPr lang="en-US" sz="3600" b="1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  <a:ea typeface="Noto Sans"/>
              </a:rPr>
              <a:t>Voter Registration </a:t>
            </a:r>
            <a:br>
              <a:rPr sz="3600"/>
            </a:b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64" name="PlaceHolder 2"/>
          <p:cNvSpPr>
            <a:spLocks noGrp="1"/>
          </p:cNvSpPr>
          <p:nvPr>
            <p:ph/>
          </p:nvPr>
        </p:nvSpPr>
        <p:spPr>
          <a:xfrm>
            <a:off x="750240" y="1194120"/>
            <a:ext cx="8596080" cy="406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Voter registration performed by the election administrator.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Each voter is registered using a unique blockchain wallet address.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Smart contract verifies whether the voter is already registered.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Only registered voters are permitted to participate in voting.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Registration data stored securely and immutably on blockchain.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Prevents unauthorized registration and duplicate entries.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This module ensures authentication and prevents unauthorized voting.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840" cy="52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MODULE 3: Voting Module</a:t>
            </a:r>
            <a:br>
              <a:rPr sz="3600"/>
            </a:br>
            <a:br>
              <a:rPr sz="3600"/>
            </a:b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/>
          </p:nvPr>
        </p:nvSpPr>
        <p:spPr>
          <a:xfrm>
            <a:off x="750240" y="1194120"/>
            <a:ext cx="8596080" cy="407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Registered voter selects a candidate and submits vote.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Backend calls castVote() on the smart contract.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Smart contract checks: voter is registered and has not voted.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Vote recorded as immutable transaction on blockchain.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Transaction hash returned to voter as proof of vote.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Duplicate vote attempts are automatically rejected by the contract.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Entire voting process is transparent and cryptographically secure.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840" cy="52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MODULE 4: Voting Verification Module</a:t>
            </a:r>
            <a:br>
              <a:rPr sz="3600"/>
            </a:br>
            <a:br>
              <a:rPr sz="3600"/>
            </a:b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68" name="PlaceHolder 2"/>
          <p:cNvSpPr>
            <a:spLocks noGrp="1"/>
          </p:cNvSpPr>
          <p:nvPr>
            <p:ph/>
          </p:nvPr>
        </p:nvSpPr>
        <p:spPr>
          <a:xfrm>
            <a:off x="750240" y="1194480"/>
            <a:ext cx="8596080" cy="474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Verifies that each cast vote is correctly and immutably recorded on the blockchain.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Provides cryptographic proof of vote submission to every voter.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Election observers can independently audit results without authority access.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Ensures full end-to-end verifiability — from cast to final count.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Prevents silent vote dropping or post-submission tampering.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Makes electoral process transparent and publicly auditable.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Supports real-time verification during active election and post-election audit.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840" cy="52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MODULE 4: Implementation Details</a:t>
            </a:r>
            <a:br>
              <a:rPr sz="3600"/>
            </a:br>
            <a:br>
              <a:rPr sz="3600"/>
            </a:b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/>
          </p:nvPr>
        </p:nvSpPr>
        <p:spPr>
          <a:xfrm>
            <a:off x="750240" y="965880"/>
            <a:ext cx="9079560" cy="566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Smart Contract Functions: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vote_cast() emits VoteCast(voter, candidateId, timestamp) event on blockchain.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getVoteStatus(address) → returns true if address has already voted.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getTransactionHash() → returns stored tx hash for voter's record.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Verification Flow: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After vote submission, backend returns transaction hash to user interface.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Voter stores tx hash and can verify via local blockchain explorer.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Block number and timestamp are embedded in each vote event.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Audit Trail: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All VoteCast events are queryable from contract event log.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Event log is append-only — no deletion possible once mined.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Admin can export full vote event log for independent audit.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840" cy="52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MODULE 4:  Verification Flow</a:t>
            </a:r>
            <a:br>
              <a:rPr sz="3600"/>
            </a:br>
            <a:br>
              <a:rPr sz="3600"/>
            </a:b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/>
          </p:nvPr>
        </p:nvSpPr>
        <p:spPr>
          <a:xfrm>
            <a:off x="750240" y="1194480"/>
            <a:ext cx="7479360" cy="337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Voter submits vote → smart contract validates → transaction mined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Transaction hash displayed on confirmation screen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getVoteStatus() confirms vote recorded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Block explorer shows event details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Observer audit: query all VoteCast events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840" cy="52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MODULE 5: Result Management Module</a:t>
            </a:r>
            <a:br>
              <a:rPr sz="3600"/>
            </a:br>
            <a:br>
              <a:rPr sz="3600"/>
            </a:b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750240" y="1194480"/>
            <a:ext cx="8596080" cy="474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Manages final vote tallying and transparent result declaration.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Only authorized election admin can trigger result finalization.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Smart contract automatically counts votes per candidate from blockchain.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Results are publicly verifiable on-chain by anyone at any time.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Prevents premature result disclosure before election officially closes.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Provides a real-time results dashboard for authorized viewers.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Ensures final declared results match on-chain vote records exactly.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840" cy="52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MODULE 5: Implementation Details</a:t>
            </a:r>
            <a:br>
              <a:rPr sz="3600"/>
            </a:br>
            <a:br>
              <a:rPr sz="3600"/>
            </a:b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750240" y="914400"/>
            <a:ext cx="8596080" cy="594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Smart Contract Functions: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getTotalVotes() → returns aggregate total vote count across all candidates.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getResults() → returns array of vote counts indexed by candidateId.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declareResults() → admin-only; closes voting and marks election as finalized.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isElectionClosed() → boolean state flag checked before any result access.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Backend &amp; Frontend: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Node.js API calls getResults() via web3.js and returns JSON to frontend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Results dashboard renders candidate names with vote counts and percentages.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Winner determined client-side by highest vote count.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Chart.js used for visual bar graph representation of results.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Security: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Result functions revert if election not yet declared closed.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Admin key required to call declareResults() — prevents unauthorized closure.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840" cy="52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MODULE 5: Result Dashboard</a:t>
            </a:r>
            <a:br>
              <a:rPr sz="3600"/>
            </a:br>
            <a:br>
              <a:rPr sz="3600"/>
            </a:b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78" name="PlaceHolder 18"/>
          <p:cNvSpPr txBox="1"/>
          <p:nvPr/>
        </p:nvSpPr>
        <p:spPr>
          <a:xfrm>
            <a:off x="750240" y="914400"/>
            <a:ext cx="8596080" cy="3200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marL="343080" indent="-343080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Admin triggers declareResults() on smart contract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Backend fetches getResults() array from chain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Frontend renders real-time vote counts per candidate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Winner highlighted with highest vote count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All results verifiable independently on blockchain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840" cy="52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Screenshot: Source code</a:t>
            </a:r>
            <a:br>
              <a:rPr sz="3600"/>
            </a:br>
            <a:br>
              <a:rPr sz="3600"/>
            </a:b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pic>
        <p:nvPicPr>
          <p:cNvPr id="380" name=""/>
          <p:cNvPicPr/>
          <p:nvPr/>
        </p:nvPicPr>
        <p:blipFill>
          <a:blip r:embed="rId1"/>
          <a:stretch/>
        </p:blipFill>
        <p:spPr>
          <a:xfrm>
            <a:off x="4800240" y="3886200"/>
            <a:ext cx="4109760" cy="2743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1" name=""/>
          <p:cNvPicPr/>
          <p:nvPr/>
        </p:nvPicPr>
        <p:blipFill>
          <a:blip r:embed="rId2"/>
          <a:stretch/>
        </p:blipFill>
        <p:spPr>
          <a:xfrm>
            <a:off x="457200" y="914400"/>
            <a:ext cx="4114800" cy="2743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2" name=""/>
          <p:cNvPicPr/>
          <p:nvPr/>
        </p:nvPicPr>
        <p:blipFill>
          <a:blip r:embed="rId3"/>
          <a:stretch/>
        </p:blipFill>
        <p:spPr>
          <a:xfrm>
            <a:off x="457200" y="3886200"/>
            <a:ext cx="4114800" cy="2743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3" name=""/>
          <p:cNvPicPr/>
          <p:nvPr/>
        </p:nvPicPr>
        <p:blipFill>
          <a:blip r:embed="rId4"/>
          <a:stretch/>
        </p:blipFill>
        <p:spPr>
          <a:xfrm>
            <a:off x="4800600" y="914400"/>
            <a:ext cx="4114800" cy="274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840" cy="52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Noto Sans"/>
              </a:rPr>
              <a:t>Screenshot: UI</a:t>
            </a:r>
            <a:br>
              <a:rPr sz="3600"/>
            </a:br>
            <a:br>
              <a:rPr sz="3600"/>
            </a:b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pic>
        <p:nvPicPr>
          <p:cNvPr id="385" name="Picture 1" descr="UI.png"/>
          <p:cNvPicPr/>
          <p:nvPr/>
        </p:nvPicPr>
        <p:blipFill>
          <a:blip r:embed="rId1"/>
          <a:stretch/>
        </p:blipFill>
        <p:spPr>
          <a:xfrm>
            <a:off x="656640" y="1089720"/>
            <a:ext cx="3915360" cy="233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6" name="Picture 10" descr="registration.png"/>
          <p:cNvPicPr/>
          <p:nvPr/>
        </p:nvPicPr>
        <p:blipFill>
          <a:blip r:embed="rId2"/>
          <a:stretch/>
        </p:blipFill>
        <p:spPr>
          <a:xfrm>
            <a:off x="4800600" y="1143000"/>
            <a:ext cx="3886560" cy="228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7" name="Picture 12" descr="Voting.png"/>
          <p:cNvPicPr/>
          <p:nvPr/>
        </p:nvPicPr>
        <p:blipFill>
          <a:blip r:embed="rId3"/>
          <a:stretch/>
        </p:blipFill>
        <p:spPr>
          <a:xfrm>
            <a:off x="685800" y="3731040"/>
            <a:ext cx="3886200" cy="2669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8" name=""/>
          <p:cNvPicPr/>
          <p:nvPr/>
        </p:nvPicPr>
        <p:blipFill>
          <a:blip r:embed="rId4"/>
          <a:stretch/>
        </p:blipFill>
        <p:spPr>
          <a:xfrm>
            <a:off x="4863960" y="3657600"/>
            <a:ext cx="3822840" cy="274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title"/>
          </p:nvPr>
        </p:nvSpPr>
        <p:spPr>
          <a:xfrm>
            <a:off x="74520" y="156240"/>
            <a:ext cx="8596080" cy="757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Conclusion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90" name="PlaceHolder 2"/>
          <p:cNvSpPr>
            <a:spLocks noGrp="1"/>
          </p:cNvSpPr>
          <p:nvPr>
            <p:ph/>
          </p:nvPr>
        </p:nvSpPr>
        <p:spPr>
          <a:xfrm>
            <a:off x="667080" y="914400"/>
            <a:ext cx="8596080" cy="4571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Summary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Blockchain-based E-voting addresses transparency, integrity, and trust issues.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Key Benefits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Decentralization removes single points of failure.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Smart contracts enforce election rules automatically.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Immutable ledger enables independent verification and auditing.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Outcome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Prototype demonstrates practical feasibility of blockchain in electoral systems.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Provides a foundation for future large-scale or national-level deployments.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391" name="Cloud Callout 3"/>
          <p:cNvSpPr/>
          <p:nvPr/>
        </p:nvSpPr>
        <p:spPr>
          <a:xfrm>
            <a:off x="2986560" y="5355360"/>
            <a:ext cx="4658760" cy="1273680"/>
          </a:xfrm>
          <a:prstGeom prst="cloudCallout">
            <a:avLst>
              <a:gd name="adj1" fmla="val -20833"/>
              <a:gd name="adj2" fmla="val 62500"/>
            </a:avLst>
          </a:prstGeom>
          <a:solidFill>
            <a:schemeClr val="lt1"/>
          </a:solidFill>
          <a:ln cap="rnd" w="19080">
            <a:solidFill>
              <a:schemeClr val="accent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rebuchet MS"/>
              </a:rPr>
              <a:t>THANK YOU 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1281</TotalTime>
  <Application>LibreOffice/26.2.1.2$Linux_X86_64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2024-12-13T12:01:40Z</dcterms:created>
  <dc:creator>vishalrameshv13@gmail.com</dc:creator>
  <dc:description/>
  <dc:language>en-US</dc:language>
  <cp:lastModifiedBy/>
  <dcterms:modified xsi:type="dcterms:W3CDTF">2026-04-05T14:48:03Z</dcterms:modified>
  <cp:revision>13</cp:revision>
  <dc:subject/>
  <dc:title>INVEST MATCH AI CLOUD BASED   STARTUP AND INVESTOR   MATCHING PLATFORM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</vt:r8>
  </property>
  <property fmtid="{D5CDD505-2E9C-101B-9397-08002B2CF9AE}" pid="3" name="PresentationFormat">
    <vt:lpwstr>Widescreen</vt:lpwstr>
  </property>
  <property fmtid="{D5CDD505-2E9C-101B-9397-08002B2CF9AE}" pid="4" name="Slides">
    <vt:r8>13</vt:r8>
  </property>
</Properties>
</file>