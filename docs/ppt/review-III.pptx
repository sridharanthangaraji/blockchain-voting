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10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5.xml" ContentType="application/vnd.openxmlformats-officedocument.theme+xml"/>
  <Override PartName="/ppt/theme/theme19.xml" ContentType="application/vnd.openxmlformats-officedocument.theme+xml"/>
  <Override PartName="/ppt/theme/theme15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2.xml" ContentType="application/vnd.openxmlformats-officedocument.theme+xml"/>
  <Override PartName="/ppt/theme/theme8.xml" ContentType="application/vnd.openxmlformats-officedocument.theme+xml"/>
  <Override PartName="/ppt/theme/theme14.xml" ContentType="application/vnd.openxmlformats-officedocument.theme+xml"/>
  <Override PartName="/ppt/theme/theme1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9.xml" ContentType="application/vnd.openxmlformats-officedocument.theme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3" r:id="rId14"/>
    <p:sldMasterId id="2147483675" r:id="rId15"/>
    <p:sldMasterId id="2147483677" r:id="rId16"/>
    <p:sldMasterId id="2147483679" r:id="rId17"/>
    <p:sldMasterId id="2147483681" r:id="rId18"/>
    <p:sldMasterId id="2147483682" r:id="rId19"/>
  </p:sldMasterIdLst>
  <p:notesMasterIdLst>
    <p:notesMasterId r:id="rId20"/>
  </p:notes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PlaceHolder 4"/>
          <p:cNvSpPr>
            <a:spLocks noGrp="1"/>
          </p:cNvSpPr>
          <p:nvPr>
            <p:ph type="dt" idx="55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PlaceHolder 5"/>
          <p:cNvSpPr>
            <a:spLocks noGrp="1"/>
          </p:cNvSpPr>
          <p:nvPr>
            <p:ph type="ftr" idx="56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PlaceHolder 6"/>
          <p:cNvSpPr>
            <a:spLocks noGrp="1"/>
          </p:cNvSpPr>
          <p:nvPr>
            <p:ph type="sldNum" idx="57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99970D7-C80B-44DD-8BBC-DC094E87601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43F2D0B-2044-4D94-A628-7F78A6578C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FDAAF7-6896-4D88-A9C1-7350CE5F75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7211DD4-08DA-4B99-9F96-D3EF771342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E5723E-EBB6-40AF-824F-32A329DDCD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EA0DBAB-CE56-45E1-B301-384810F0D7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DF31847-406B-4314-BC6C-1F4BFA6CD7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8172C19-35AB-46A9-B0F2-FA14C03C21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85AF0B4-28B6-4FEA-8222-4FBE94A1C7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2B82641-C178-445D-AF9C-85A5515168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CCB6942-616F-458A-9A5D-D9F8BF119B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6BEB024-6D56-4A09-AA8D-A6DF671E54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88D4203-F41B-413B-8A00-AAF3698592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7B4EB59B-BC0C-40F5-9AB8-3EE17AE724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71C5ECA6-3B77-45AC-862F-845EB82729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3D8852F1-3B04-4B5B-8BFB-B5DA351978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E6FEC9C7-3538-4F75-830E-9F8B2AB8EF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C50E5293-BE83-421A-BBD9-B67D5E65C0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AF5A38DF-5B09-4F75-87D9-818EB1F909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4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5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6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7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720" y="-8640"/>
            <a:ext cx="12190680" cy="6867000"/>
            <a:chOff x="720" y="-8640"/>
            <a:chExt cx="12190680" cy="686700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720" y="720"/>
              <a:ext cx="842040" cy="56653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77160" y="446400"/>
            <a:ext cx="85960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6A61009-F890-42B3-8011-017655E5F5E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34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5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6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320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320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86DCB2C-CF06-4447-ABA1-3F8B2CB53DC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53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54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55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500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5000" cy="33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500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5000" cy="33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13C8DFD-4F17-4C43-8C43-218E09C51F1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74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75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76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9044030-8114-4F49-8662-6926315836AE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91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92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93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3800" cy="12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2960" cy="552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3800" cy="258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BC2AE7A-EB9E-4718-9027-71C86227FF8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10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11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12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60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6080" cy="384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6080" cy="67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7B5595F-EAC9-4A50-8C8C-4BFE2C675D5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29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30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31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340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080" cy="157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5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65C0C60-D450-42F0-9D84-BBE942BD749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47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48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49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520" cy="302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376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080" cy="157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38563F6-D49D-437B-84D3-034C1C2CF61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TextBox 19"/>
          <p:cNvSpPr/>
          <p:nvPr/>
        </p:nvSpPr>
        <p:spPr>
          <a:xfrm>
            <a:off x="541800" y="790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1"/>
          <p:cNvSpPr/>
          <p:nvPr/>
        </p:nvSpPr>
        <p:spPr>
          <a:xfrm>
            <a:off x="8893080" y="288648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68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69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70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6080" cy="259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080" cy="151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D577545-DF9E-4624-B7EC-45FF2285F6F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86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87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88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520" cy="302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080" cy="5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080" cy="151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PlaceHolder 5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PlaceHolder 6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24D9A84-851C-47B8-9328-B9945EB625C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TextBox 23"/>
          <p:cNvSpPr/>
          <p:nvPr/>
        </p:nvSpPr>
        <p:spPr>
          <a:xfrm>
            <a:off x="541800" y="790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24"/>
          <p:cNvSpPr/>
          <p:nvPr/>
        </p:nvSpPr>
        <p:spPr>
          <a:xfrm>
            <a:off x="8893080" y="288648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07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08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09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440" cy="302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080" cy="5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080" cy="151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PlaceHolder 5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PlaceHolder 6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934F979-9E04-473E-9783-0ED3615939D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26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27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28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5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B0C7686-1282-49CA-BBE5-010B7FD1870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44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45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46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3920" cy="52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600" cy="52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D47D7AA-5E9D-4DB6-9552-43567E0A198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62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63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64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6080" cy="182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080" cy="85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PlaceHolder 5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88A0881-38B9-4D6A-9336-9FF21F26A6D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80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81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82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PlaceHolder 4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PlaceHolder 5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EAA2C3A-F7BF-4337-AF38-D12C689FAAE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298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99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00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PlaceHolder 4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PlaceHolder 5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3130CD8-D749-484A-AFB8-A6E8FC147A6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316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17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18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6" name="PlaceHolder 1"/>
          <p:cNvSpPr>
            <a:spLocks noGrp="1"/>
          </p:cNvSpPr>
          <p:nvPr>
            <p:ph type="dt" idx="49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ftr" idx="50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1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19443FB-270D-42CB-8634-B6CD3B7F8D3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3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dt" idx="52"/>
          </p:nvPr>
        </p:nvSpPr>
        <p:spPr>
          <a:xfrm>
            <a:off x="45720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ftr" idx="53"/>
          </p:nvPr>
        </p:nvSpPr>
        <p:spPr>
          <a:xfrm>
            <a:off x="3124800" y="6356520"/>
            <a:ext cx="2895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54"/>
          </p:nvPr>
        </p:nvSpPr>
        <p:spPr>
          <a:xfrm>
            <a:off x="6554520" y="6356520"/>
            <a:ext cx="21340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40F737-AEDB-4239-9A9A-00B2974DBE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5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1449720" y="457200"/>
            <a:ext cx="7693920" cy="102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lnSpcReduction="9999"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  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rebuchet MS"/>
              </a:rPr>
              <a:t> Design and Implementation of a</a:t>
            </a:r>
            <a:br>
              <a:rPr sz="3200"/>
            </a:b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rebuchet MS"/>
              </a:rPr>
              <a:t>Blockchain-Based E-Voting System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subTitle"/>
          </p:nvPr>
        </p:nvSpPr>
        <p:spPr>
          <a:xfrm>
            <a:off x="2539080" y="2286000"/>
            <a:ext cx="5690160" cy="282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TEAM MEMBERS 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S.THILLAIARASAN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( 620822205114 )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M.RAMANA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( 620822205083 )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V.SUGUMARAN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( 620822205107 )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K.UDHAY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( 620822205117 )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GUIDE : MR. JEEVA. D, AP/IT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90360" y="228600"/>
            <a:ext cx="8596080" cy="68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/>
          </p:nvPr>
        </p:nvSpPr>
        <p:spPr>
          <a:xfrm>
            <a:off x="547560" y="1246320"/>
            <a:ext cx="8596080" cy="423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Design a secure, transparent E-voting system using blockchain.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Prevent vote tampering and duplicate voting via smart contracts.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Enable immutable, verifiable vote storage on a distributed ledger.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Reduce reliance on centralized authorities for counting and verification.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Provide a simple, user-friendly interface for voters and administrators.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Showcase a real-world governance application of blockchain technology.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202320" y="0"/>
            <a:ext cx="825552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685800" y="954360"/>
            <a:ext cx="8081640" cy="228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Centralized e-voting infrastructure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Limited transparency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Lack of  Verification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Managed by single authority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48" name="Content Placeholder 5"/>
          <p:cNvSpPr/>
          <p:nvPr/>
        </p:nvSpPr>
        <p:spPr>
          <a:xfrm>
            <a:off x="685800" y="4215960"/>
            <a:ext cx="8081640" cy="24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Operational issues: Manual audits required to gain confidence in results. High operational and verification costs.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 concerns: Single point of failure. Vulnerable to hacking, data manipulation, and insider threats.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Result: Lack of voter trust and difficult independent auditing.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3"/>
          <p:cNvSpPr/>
          <p:nvPr/>
        </p:nvSpPr>
        <p:spPr>
          <a:xfrm>
            <a:off x="228600" y="3240360"/>
            <a:ext cx="35013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43560" y="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51" name="Rectangle 4"/>
          <p:cNvSpPr/>
          <p:nvPr/>
        </p:nvSpPr>
        <p:spPr>
          <a:xfrm>
            <a:off x="184680" y="3240360"/>
            <a:ext cx="31219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Content Placeholder 6"/>
          <p:cNvSpPr/>
          <p:nvPr/>
        </p:nvSpPr>
        <p:spPr>
          <a:xfrm>
            <a:off x="558000" y="857880"/>
            <a:ext cx="8081640" cy="23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Decentralized blockchain-based voting: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No single point of failure.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data replicated across nodes.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 contracts: Encapsulate voter registration and voting logic. Automatically enforce election rules (phases, eligibility, one vote per user).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Content Placeholder 7"/>
          <p:cNvSpPr/>
          <p:nvPr/>
        </p:nvSpPr>
        <p:spPr>
          <a:xfrm>
            <a:off x="604800" y="3926880"/>
            <a:ext cx="8081640" cy="270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Immutable vote storage: Votes stored as blockchain transactions; tampering is detectable.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Transparent and auditable: Anyone can verify tallies on-chain.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Reduced manual work: Automated result computation and integrity checks.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Improved security: Strong cryptography, tamper-proof ledger, higher voter trust.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203400" y="152280"/>
            <a:ext cx="1031184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ARCHITECTURE/FLOW DIAGRAM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pic>
        <p:nvPicPr>
          <p:cNvPr id="355" name=""/>
          <p:cNvPicPr/>
          <p:nvPr/>
        </p:nvPicPr>
        <p:blipFill>
          <a:blip r:embed="rId1"/>
          <a:stretch/>
        </p:blipFill>
        <p:spPr>
          <a:xfrm>
            <a:off x="751320" y="1143000"/>
            <a:ext cx="816372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00064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/>
          </p:nvPr>
        </p:nvSpPr>
        <p:spPr>
          <a:xfrm>
            <a:off x="90360" y="64800"/>
            <a:ext cx="8596080" cy="62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Modules :</a:t>
            </a:r>
            <a:endParaRPr lang="en-US" sz="14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58" name="Rectangle 4"/>
          <p:cNvSpPr/>
          <p:nvPr/>
        </p:nvSpPr>
        <p:spPr>
          <a:xfrm>
            <a:off x="275760" y="3599280"/>
            <a:ext cx="30312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Content Placeholder 8"/>
          <p:cNvSpPr/>
          <p:nvPr/>
        </p:nvSpPr>
        <p:spPr>
          <a:xfrm>
            <a:off x="1828800" y="2161080"/>
            <a:ext cx="8596080" cy="38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60" name="Content Placeholder 9"/>
          <p:cNvSpPr/>
          <p:nvPr/>
        </p:nvSpPr>
        <p:spPr>
          <a:xfrm>
            <a:off x="677520" y="1148760"/>
            <a:ext cx="8596080" cy="38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User Interface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Voter Registration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Voting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Vote Verification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Result Management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282600" y="156240"/>
            <a:ext cx="8596080" cy="5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1: </a:t>
            </a:r>
            <a:r>
              <a:rPr lang="en-US" sz="36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User Interface Module</a:t>
            </a: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080" cy="520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Provide a secure, intuitive front-end for voters, admins, and auditors.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Responsibilities: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Present registration, voting, verification, and result views clearly.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Validate user input before sending data to backend/blockchain.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Handle user feedback: success messages, error alerts, and confirmations.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Features: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Responsive design for desktop and mobile.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(Optional) multi-language support.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Accessibility-aware layouts and controls.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Technology Stack: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Web (HTML, CSS, JavaScript).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Styling (Modern CSS/glassmorphism or TailwindCSS).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Integration (Express REST APIs, ethers.js, Ganache).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840" cy="5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2: </a:t>
            </a:r>
            <a:r>
              <a:rPr lang="en-US" sz="36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Voter Registration </a:t>
            </a: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080" cy="406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Voter registration performed by the election administrator.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Each voter is registered using a unique blockchain wallet address.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 contract verifies whether the voter is already registered.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Only registered voters are permitted to participate in voting.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Registration data stored securely and immutably on blockchain.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Prevents unauthorized registration and duplicate entries.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This module ensures authentication and prevents unauthorized voting.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840" cy="5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3: Voting Module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080" cy="407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Registered voter selects a candidate and submits vote.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Backend calls castVote() on the smart contract.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Smart contract checks: voter is registered and has not voted.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Vote recorded as immutable transaction on blockchain.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Transaction hash returned to voter as proof of vote.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Duplicate vote attempts are automatically rejected by the contract.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Entire voting process is transparent and cryptographically secure.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840" cy="5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4: Voting Verification Module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/>
          </p:nvPr>
        </p:nvSpPr>
        <p:spPr>
          <a:xfrm>
            <a:off x="750240" y="1194480"/>
            <a:ext cx="8596080" cy="474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Verifies that each cast vote is correctly and immutably recorded on the blockchain.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Provides cryptographic proof of vote submission to every voter.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Election observers can independently audit results without authority access.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Ensures full end-to-end verifiability — from cast to final count.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Prevents silent vote dropping or post-submission tampering.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Makes electoral process transparent and publicly auditable.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Supports real-time verification during active election and post-election audit.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840" cy="5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4: Implementation Details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/>
          </p:nvPr>
        </p:nvSpPr>
        <p:spPr>
          <a:xfrm>
            <a:off x="750240" y="965880"/>
            <a:ext cx="9079560" cy="566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Smart Contract Functions: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vote_cast() emits VoteCast(voter, candidateId, timestamp) event on blockchain.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getVoteStatus(address) → returns true if address has already voted.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getTransactionHash() → returns stored tx hash for voter's record.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Verification Flow: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After vote submission, backend returns transaction hash to user interface.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Voter stores tx hash and can verify via local blockchain explorer.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Block number and timestamp are embedded in each vote event.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Audit Trail: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All VoteCast events are queryable from contract event log.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Event log is append-only — no deletion possible once mined.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Admin can export full vote event log for independent audit.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840" cy="5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4:  Verification Flow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/>
          </p:nvPr>
        </p:nvSpPr>
        <p:spPr>
          <a:xfrm>
            <a:off x="750240" y="1194480"/>
            <a:ext cx="7479360" cy="337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Voter submits vote → smart contract validates → transaction mined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Transaction hash displayed on confirmation screen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getVoteStatus() confirms vote recorded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Block explorer shows event details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Observer audit: query all VoteCast events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840" cy="5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5: Result Management Module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/>
          </p:nvPr>
        </p:nvSpPr>
        <p:spPr>
          <a:xfrm>
            <a:off x="750240" y="1194480"/>
            <a:ext cx="8596080" cy="474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Manages final vote tallying and transparent result declaration.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Only authorized election admin can trigger result finalization.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Smart contract automatically counts votes per candidate from blockchain.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Results are publicly verifiable on-chain by anyone at any time.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Prevents premature result disclosure before election officially closes.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Provides a real-time results dashboard for authorized viewers.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Ensures final declared results match on-chain vote records exactly.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840" cy="5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5: Implementation Details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750240" y="914400"/>
            <a:ext cx="8596080" cy="594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Smart Contract Functions: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getTotalVotes() → returns aggregate total vote count across all candidates.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getResults() → returns array of vote counts indexed by candidateId.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declareResults() → admin-only; closes voting and marks election as finalized.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isElectionClosed() → boolean state flag checked before any result access.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Backend &amp; Frontend: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Node.js API calls getResults() via web3.js and returns JSON to frontend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Results dashboard renders candidate names with vote counts and percentages.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Winner determined client-side by highest vote count.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Chart.js used for visual bar graph representation of results.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Security: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Result functions revert if election not yet declared closed.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Admin key required to call declareResults() — prevents unauthorized closure.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840" cy="5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5: Result Dashboard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78" name="PlaceHolder 18"/>
          <p:cNvSpPr txBox="1"/>
          <p:nvPr/>
        </p:nvSpPr>
        <p:spPr>
          <a:xfrm>
            <a:off x="750240" y="914400"/>
            <a:ext cx="8596080" cy="3200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Admin triggers declareResults() on smart contract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Backend fetches getResults() array from chain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Frontend renders real-time vote counts per candidate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Winner highlighted with highest vote count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All results verifiable independently on blockchain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840" cy="5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Screenshot: Source code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pic>
        <p:nvPicPr>
          <p:cNvPr id="380" name=""/>
          <p:cNvPicPr/>
          <p:nvPr/>
        </p:nvPicPr>
        <p:blipFill>
          <a:blip r:embed="rId1"/>
          <a:stretch/>
        </p:blipFill>
        <p:spPr>
          <a:xfrm>
            <a:off x="4800240" y="3886200"/>
            <a:ext cx="4109760" cy="274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1" name=""/>
          <p:cNvPicPr/>
          <p:nvPr/>
        </p:nvPicPr>
        <p:blipFill>
          <a:blip r:embed="rId2"/>
          <a:stretch/>
        </p:blipFill>
        <p:spPr>
          <a:xfrm>
            <a:off x="457200" y="914400"/>
            <a:ext cx="4114800" cy="274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2" name=""/>
          <p:cNvPicPr/>
          <p:nvPr/>
        </p:nvPicPr>
        <p:blipFill>
          <a:blip r:embed="rId3"/>
          <a:stretch/>
        </p:blipFill>
        <p:spPr>
          <a:xfrm>
            <a:off x="457200" y="3886200"/>
            <a:ext cx="4114800" cy="274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3" name=""/>
          <p:cNvPicPr/>
          <p:nvPr/>
        </p:nvPicPr>
        <p:blipFill>
          <a:blip r:embed="rId4"/>
          <a:stretch/>
        </p:blipFill>
        <p:spPr>
          <a:xfrm>
            <a:off x="4800600" y="914400"/>
            <a:ext cx="4114800" cy="2743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840" cy="5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Screenshot: UI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pic>
        <p:nvPicPr>
          <p:cNvPr id="385" name="Picture 1" descr="UI.png"/>
          <p:cNvPicPr/>
          <p:nvPr/>
        </p:nvPicPr>
        <p:blipFill>
          <a:blip r:embed="rId1"/>
          <a:stretch/>
        </p:blipFill>
        <p:spPr>
          <a:xfrm>
            <a:off x="656640" y="1089720"/>
            <a:ext cx="3915360" cy="23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6" name="Picture 10" descr="registration.png"/>
          <p:cNvPicPr/>
          <p:nvPr/>
        </p:nvPicPr>
        <p:blipFill>
          <a:blip r:embed="rId2"/>
          <a:stretch/>
        </p:blipFill>
        <p:spPr>
          <a:xfrm>
            <a:off x="4800600" y="1143000"/>
            <a:ext cx="3886560" cy="22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7" name="Picture 12" descr="Voting.png"/>
          <p:cNvPicPr/>
          <p:nvPr/>
        </p:nvPicPr>
        <p:blipFill>
          <a:blip r:embed="rId3"/>
          <a:stretch/>
        </p:blipFill>
        <p:spPr>
          <a:xfrm>
            <a:off x="685800" y="3731040"/>
            <a:ext cx="3886200" cy="266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8" name=""/>
          <p:cNvPicPr/>
          <p:nvPr/>
        </p:nvPicPr>
        <p:blipFill>
          <a:blip r:embed="rId4"/>
          <a:stretch/>
        </p:blipFill>
        <p:spPr>
          <a:xfrm>
            <a:off x="4863960" y="3657600"/>
            <a:ext cx="3822840" cy="2743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6080" cy="7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/>
          </p:nvPr>
        </p:nvSpPr>
        <p:spPr>
          <a:xfrm>
            <a:off x="667080" y="914400"/>
            <a:ext cx="8596080" cy="457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Summary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Blockchain-based E-voting addresses transparency, integrity, and trust issues.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Benefits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Decentralization removes single points of failure.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 contracts enforce election rules automatically.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Immutable ledger enables independent verification and auditing.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Outcome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Prototype demonstrates practical feasibility of blockchain in electoral systems.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Provides a foundation for future large-scale or national-level deployments.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91" name="Cloud Callout 3"/>
          <p:cNvSpPr/>
          <p:nvPr/>
        </p:nvSpPr>
        <p:spPr>
          <a:xfrm>
            <a:off x="2986560" y="5355360"/>
            <a:ext cx="4658760" cy="127368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1"/>
          </a:solidFill>
          <a:ln cap="rnd" w="1908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1281</TotalTime>
  <Application>LibreOffice/26.2.1.2$Linux_X86_64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dcterms:modified xsi:type="dcterms:W3CDTF">2026-04-05T14:48:03Z</dcterms:modified>
  <cp:revision>13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Widescreen</vt:lpwstr>
  </property>
  <property fmtid="{D5CDD505-2E9C-101B-9397-08002B2CF9AE}" pid="4" name="Slides">
    <vt:r8>13</vt:r8>
  </property>
</Properties>
</file>