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theme/theme2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19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64" r:id="rId4"/>
    <p:sldMasterId id="2147483667" r:id="rId5"/>
    <p:sldMasterId id="214748366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15.xml"/><Relationship Id="rId5" Type="http://schemas.openxmlformats.org/officeDocument/2006/relationships/slideMaster" Target="slideMasters/slideMaster17.xml"/><Relationship Id="rId6" Type="http://schemas.openxmlformats.org/officeDocument/2006/relationships/slideMaster" Target="slideMasters/slideMaster18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PlaceHolder 4"/>
          <p:cNvSpPr>
            <a:spLocks noGrp="1"/>
          </p:cNvSpPr>
          <p:nvPr>
            <p:ph type="dt" idx="55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PlaceHolder 5"/>
          <p:cNvSpPr>
            <a:spLocks noGrp="1"/>
          </p:cNvSpPr>
          <p:nvPr>
            <p:ph type="ftr" idx="56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PlaceHolder 6"/>
          <p:cNvSpPr>
            <a:spLocks noGrp="1"/>
          </p:cNvSpPr>
          <p:nvPr>
            <p:ph type="sldNum" idx="57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7AB1EFF-1EFB-4544-8659-44E90D1486D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3C8E956-7861-44F9-83C7-AD1B70FE83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7160" y="956520"/>
            <a:ext cx="859572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E87D5F0-E20E-4540-9488-90B7C635BB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Name 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32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3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4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160" cy="302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5720" cy="51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720" cy="151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4AC1A6B-94CB-4845-A2BE-F4D560CD95E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TextBox 23"/>
          <p:cNvSpPr/>
          <p:nvPr/>
        </p:nvSpPr>
        <p:spPr>
          <a:xfrm>
            <a:off x="541800" y="79020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Box 24"/>
          <p:cNvSpPr/>
          <p:nvPr/>
        </p:nvSpPr>
        <p:spPr>
          <a:xfrm>
            <a:off x="8893080" y="288648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ue or Fal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51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52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53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587080" cy="302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5720" cy="51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720" cy="151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7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8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9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D1C0AEC-134C-44F8-8CA4-98150A4D446F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68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69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70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dt" idx="10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ftr" idx="11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sldNum" idx="12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55561B0-1CDD-4660-967E-CA841F8AF0E7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84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85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86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967520" y="609480"/>
            <a:ext cx="1303560" cy="52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7059240" cy="52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dt" idx="13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ftr" idx="14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sldNum" idx="15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F438DEE-4D74-4254-B96D-1A5D7A15B7F6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00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01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02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77160" y="2700720"/>
            <a:ext cx="8595720" cy="18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720" cy="85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dt" idx="16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ftr" idx="17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sldNum" idx="18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488F170-A9EC-409C-8EDA-83AAB0D8FA2C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16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17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18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82840" cy="387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body"/>
          </p:nvPr>
        </p:nvSpPr>
        <p:spPr>
          <a:xfrm>
            <a:off x="5090040" y="2160720"/>
            <a:ext cx="4182840" cy="387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dt" idx="19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ftr" idx="20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6"/>
          <p:cNvSpPr>
            <a:spLocks noGrp="1"/>
          </p:cNvSpPr>
          <p:nvPr>
            <p:ph type="sldNum" idx="21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FB7F21B-AE2E-4B75-B9D1-C345A8A905D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33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34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35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75720" y="2161080"/>
            <a:ext cx="4184640" cy="57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675720" y="2737080"/>
            <a:ext cx="4184640" cy="330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5088240" y="2161080"/>
            <a:ext cx="4184640" cy="57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body"/>
          </p:nvPr>
        </p:nvSpPr>
        <p:spPr>
          <a:xfrm>
            <a:off x="5088240" y="2737080"/>
            <a:ext cx="4184640" cy="330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8" name="PlaceHolder 6"/>
          <p:cNvSpPr>
            <a:spLocks noGrp="1"/>
          </p:cNvSpPr>
          <p:nvPr>
            <p:ph type="dt" idx="22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7"/>
          <p:cNvSpPr>
            <a:spLocks noGrp="1"/>
          </p:cNvSpPr>
          <p:nvPr>
            <p:ph type="ftr" idx="23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8"/>
          <p:cNvSpPr>
            <a:spLocks noGrp="1"/>
          </p:cNvSpPr>
          <p:nvPr>
            <p:ph type="sldNum" idx="24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E60BE41-1BE7-4120-82D7-CCB201B6786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52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53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54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dt" idx="25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ftr" idx="26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sldNum" idx="27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58CFE84-8387-4A4C-9A85-1B9A4AA24209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67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68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69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77160" y="1498680"/>
            <a:ext cx="3853440" cy="12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4760640" y="514800"/>
            <a:ext cx="4512600" cy="55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677160" y="2777040"/>
            <a:ext cx="3853440" cy="25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dt" idx="28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PlaceHolder 5"/>
          <p:cNvSpPr>
            <a:spLocks noGrp="1"/>
          </p:cNvSpPr>
          <p:nvPr>
            <p:ph type="ftr" idx="29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PlaceHolder 6"/>
          <p:cNvSpPr>
            <a:spLocks noGrp="1"/>
          </p:cNvSpPr>
          <p:nvPr>
            <p:ph type="sldNum" idx="30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4AE4F82-BDF3-4D12-9DD7-F2F9D4E28771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84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85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86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677160" y="4800600"/>
            <a:ext cx="8595720" cy="56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8595720" cy="384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body"/>
          </p:nvPr>
        </p:nvSpPr>
        <p:spPr>
          <a:xfrm>
            <a:off x="677160" y="5367240"/>
            <a:ext cx="8595720" cy="67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dt" idx="31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5"/>
          <p:cNvSpPr>
            <a:spLocks noGrp="1"/>
          </p:cNvSpPr>
          <p:nvPr>
            <p:ph type="ftr" idx="32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6"/>
          <p:cNvSpPr>
            <a:spLocks noGrp="1"/>
          </p:cNvSpPr>
          <p:nvPr>
            <p:ph type="sldNum" idx="33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3A829F2-DC2B-4318-9B6E-A0783DB271AD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01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02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03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340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5720" cy="156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dt" idx="34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ftr" idx="35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sldNum" idx="36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414A8D6-5893-4F21-98E0-0C944A916C9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17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18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19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160" cy="302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1366200" y="3632040"/>
            <a:ext cx="7223400" cy="3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5720" cy="156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 type="dt" idx="37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ceHolder 5"/>
          <p:cNvSpPr>
            <a:spLocks noGrp="1"/>
          </p:cNvSpPr>
          <p:nvPr>
            <p:ph type="ftr" idx="38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PlaceHolder 6"/>
          <p:cNvSpPr>
            <a:spLocks noGrp="1"/>
          </p:cNvSpPr>
          <p:nvPr>
            <p:ph type="sldNum" idx="39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3B046DE-D6F1-4AEA-893C-65F2F432C871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TextBox 19"/>
          <p:cNvSpPr/>
          <p:nvPr/>
        </p:nvSpPr>
        <p:spPr>
          <a:xfrm>
            <a:off x="541800" y="79020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21"/>
          <p:cNvSpPr/>
          <p:nvPr/>
        </p:nvSpPr>
        <p:spPr>
          <a:xfrm>
            <a:off x="8893080" y="288648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e 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36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37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38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77160" y="1932120"/>
            <a:ext cx="8595720" cy="2594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720" cy="151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dt" idx="40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 type="ftr" idx="41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PlaceHolder 5"/>
          <p:cNvSpPr>
            <a:spLocks noGrp="1"/>
          </p:cNvSpPr>
          <p:nvPr>
            <p:ph type="sldNum" idx="42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E41FE90-B190-4E08-B44D-72E3A1771B78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52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53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54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dt" idx="43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 type="ftr" idx="44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PlaceHolder 5"/>
          <p:cNvSpPr>
            <a:spLocks noGrp="1"/>
          </p:cNvSpPr>
          <p:nvPr>
            <p:ph type="sldNum" idx="45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EF4DBF1-B80D-468A-8694-87C88A6FF78F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68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69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70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8" name="PlaceHolder 1"/>
          <p:cNvSpPr>
            <a:spLocks noGrp="1"/>
          </p:cNvSpPr>
          <p:nvPr>
            <p:ph type="dt" idx="46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ftr" idx="47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48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3B0A73C-CBFA-4B05-BBFE-072F29E72CD9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8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677160" y="956520"/>
            <a:ext cx="859572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3918E79C-DBE3-4C8A-AFE1-7CC8B0B428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677160" y="956520"/>
            <a:ext cx="859572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448178E6-A323-4894-BC83-94F513A8A0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677160" y="956520"/>
            <a:ext cx="859572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33F9467C-0011-4E23-A08D-38D9C66928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3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4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5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Group 6"/>
          <p:cNvGrpSpPr/>
          <p:nvPr/>
        </p:nvGrpSpPr>
        <p:grpSpPr>
          <a:xfrm>
            <a:off x="1080" y="-8640"/>
            <a:ext cx="12189960" cy="6867360"/>
            <a:chOff x="1080" y="-8640"/>
            <a:chExt cx="12189960" cy="6867360"/>
          </a:xfrm>
        </p:grpSpPr>
        <p:cxnSp>
          <p:nvCxnSpPr>
            <p:cNvPr id="14" name="Straight Connector 31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5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6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Isosceles Triangle 26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Isosceles Triangle 30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Isosceles Triangle 18"/>
            <p:cNvSpPr/>
            <p:nvPr/>
          </p:nvSpPr>
          <p:spPr>
            <a:xfrm rot="10800000">
              <a:off x="1080" y="1080"/>
              <a:ext cx="841680" cy="56649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77160" y="446400"/>
            <a:ext cx="859572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5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ftr" idx="1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2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1D25FCE-A38E-4ED4-842F-C3B8EC8F202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16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3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84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85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86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677160" y="994680"/>
            <a:ext cx="859572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ftr" idx="49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50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C94AAB3-1940-4807-80AB-DE4030D1607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 type="dt" idx="51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301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02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03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677160" y="994680"/>
            <a:ext cx="859572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ftr" idx="52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 type="sldNum" idx="53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3830071-D0A3-4864-BCFF-61A1E0611C25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PlaceHolder 5"/>
          <p:cNvSpPr>
            <a:spLocks noGrp="1"/>
          </p:cNvSpPr>
          <p:nvPr>
            <p:ph type="dt" idx="54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2"/>
    <p:sldLayoutId id="214748367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914400" y="-267120"/>
            <a:ext cx="8228880" cy="1866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rebuchet MS"/>
              </a:rPr>
              <a:t>Design and Implementation of a Blockchain-Based E-Voting System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2"/>
          <p:cNvSpPr/>
          <p:nvPr/>
        </p:nvSpPr>
        <p:spPr>
          <a:xfrm>
            <a:off x="2286000" y="2286000"/>
            <a:ext cx="8499600" cy="28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TEAM MEMBERS 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S.THILLAIARASAN  ( 620822205114 )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M.RAMANA             (  620822205083 )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V.SUGUMARAN      ( 620822205107 )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K.UDHAY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     ( 620822205117 )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GUIDE : MR. JEEVA. D, AP/IT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318960" y="27972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Problem Statement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1"/>
          <p:cNvSpPr/>
          <p:nvPr/>
        </p:nvSpPr>
        <p:spPr>
          <a:xfrm>
            <a:off x="457200" y="1371600"/>
            <a:ext cx="9037440" cy="50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Existing electronic voting systems lack transparency and verifiability for voters.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Voters cannot independently verify whether their votes are recorded correctly.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Centralized databases are vulnerable to cyber-attacks and unauthorized modifications.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Manual verification and audit processes are time-consuming and error-prone.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There is a need for a secure, transparent, and verifiable voting system that minimizes human intervention.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 challenge is to design a system that ensures one-person-one-vote while preserving data integrity.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91080" y="5184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Objective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/>
          <p:nvPr/>
        </p:nvSpPr>
        <p:spPr>
          <a:xfrm>
            <a:off x="457200" y="819000"/>
            <a:ext cx="8594280" cy="443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design a secure and transparent electronic voting system using blockchain technology.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prevent vote tampering and duplicate voting using smart contracts.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enable verifiable and immutable vote storage.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reduce reliance on centralized election authorities.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provide a simple and user-friendly interface for voters.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demonstrate a real-world application of blockchain in governance systems.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340560" y="0"/>
            <a:ext cx="825516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Existing System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Rectangle 3"/>
          <p:cNvSpPr/>
          <p:nvPr/>
        </p:nvSpPr>
        <p:spPr>
          <a:xfrm>
            <a:off x="379440" y="3511800"/>
            <a:ext cx="350100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Disadvantage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4"/>
          <p:cNvSpPr/>
          <p:nvPr/>
        </p:nvSpPr>
        <p:spPr>
          <a:xfrm>
            <a:off x="834840" y="727920"/>
            <a:ext cx="8079840" cy="27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Centralized electronic voting infrastructure.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Election data stored in traditional databases.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Vote counting and result generation controlled by authorities.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Limited transparency for voters.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Manual audits required to verify results.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Content Placeholder 1"/>
          <p:cNvSpPr/>
          <p:nvPr/>
        </p:nvSpPr>
        <p:spPr>
          <a:xfrm>
            <a:off x="685800" y="4156920"/>
            <a:ext cx="8079840" cy="27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Single point of failure.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Susceptible to hacking and data manipulation.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Lack of voter trust and transparency.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Difficult to audit independently.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High operational and verification costs.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43560" y="15624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Proposed System :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Rectangle 4"/>
          <p:cNvSpPr/>
          <p:nvPr/>
        </p:nvSpPr>
        <p:spPr>
          <a:xfrm>
            <a:off x="184680" y="3560400"/>
            <a:ext cx="312156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Advantage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5"/>
          <p:cNvSpPr/>
          <p:nvPr/>
        </p:nvSpPr>
        <p:spPr>
          <a:xfrm>
            <a:off x="685800" y="946080"/>
            <a:ext cx="8594280" cy="27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Blockchain-based decentralized voting 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Smart contracts manage voter registration and voting logic.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Votes stored on blockchain ensuring immutability.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Transparent result computation.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Automated enforcement of election rules.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Content Placeholder 3"/>
          <p:cNvSpPr/>
          <p:nvPr/>
        </p:nvSpPr>
        <p:spPr>
          <a:xfrm>
            <a:off x="685800" y="4207680"/>
            <a:ext cx="8594280" cy="26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No single point of failure.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Tamper-proof and immutable vote records.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Improved transparency and trust.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Reduced manual verification.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High security through cryptographic techniques.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74160" y="51480"/>
            <a:ext cx="884088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SYSTEM ARCHITECTURE/FLOW DIAGRAM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2565720" y="1143000"/>
            <a:ext cx="3884400" cy="60840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User Interface / Web Page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2514600" y="4394880"/>
            <a:ext cx="3884400" cy="608400"/>
          </a:xfrm>
          <a:prstGeom prst="roundRect">
            <a:avLst>
              <a:gd name="adj" fmla="val 16667"/>
            </a:avLst>
          </a:prstGeom>
          <a:solidFill>
            <a:srgbClr val="FF5429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Smart Contract ( Solidity )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2565720" y="3582000"/>
            <a:ext cx="3884400" cy="60804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Local Blockchain Network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2566080" y="2768760"/>
            <a:ext cx="3884400" cy="608400"/>
          </a:xfrm>
          <a:prstGeom prst="roundRect">
            <a:avLst>
              <a:gd name="adj" fmla="val 16667"/>
            </a:avLst>
          </a:prstGeom>
          <a:solidFill>
            <a:srgbClr val="FF860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Express API and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2565720" y="1955880"/>
            <a:ext cx="3884400" cy="608400"/>
          </a:xfrm>
          <a:prstGeom prst="roundRect">
            <a:avLst>
              <a:gd name="adj" fmla="val 16667"/>
            </a:avLst>
          </a:prstGeom>
          <a:solidFill>
            <a:srgbClr val="D4EA6B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Backend ( node.js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2565720" y="6020640"/>
            <a:ext cx="3884760" cy="608400"/>
          </a:xfrm>
          <a:prstGeom prst="roundRect">
            <a:avLst>
              <a:gd name="adj" fmla="val 16667"/>
            </a:avLst>
          </a:prstGeom>
          <a:solidFill>
            <a:srgbClr val="F10D0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Vote Denied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5994720" y="5478840"/>
            <a:ext cx="6858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48" name=""/>
          <p:cNvSpPr/>
          <p:nvPr/>
        </p:nvSpPr>
        <p:spPr>
          <a:xfrm>
            <a:off x="4394520" y="5817240"/>
            <a:ext cx="360" cy="2034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49" name=""/>
          <p:cNvSpPr/>
          <p:nvPr/>
        </p:nvSpPr>
        <p:spPr>
          <a:xfrm>
            <a:off x="4394520" y="5004360"/>
            <a:ext cx="360" cy="2034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50" name=""/>
          <p:cNvSpPr/>
          <p:nvPr/>
        </p:nvSpPr>
        <p:spPr>
          <a:xfrm>
            <a:off x="4394520" y="3378600"/>
            <a:ext cx="360" cy="2034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51" name=""/>
          <p:cNvSpPr/>
          <p:nvPr/>
        </p:nvSpPr>
        <p:spPr>
          <a:xfrm>
            <a:off x="4394520" y="4191480"/>
            <a:ext cx="360" cy="2034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52" name=""/>
          <p:cNvSpPr/>
          <p:nvPr/>
        </p:nvSpPr>
        <p:spPr>
          <a:xfrm>
            <a:off x="4427280" y="2544840"/>
            <a:ext cx="360" cy="2034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53" name=""/>
          <p:cNvSpPr/>
          <p:nvPr/>
        </p:nvSpPr>
        <p:spPr>
          <a:xfrm>
            <a:off x="4394520" y="1752840"/>
            <a:ext cx="360" cy="20304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54" name=""/>
          <p:cNvSpPr/>
          <p:nvPr/>
        </p:nvSpPr>
        <p:spPr>
          <a:xfrm>
            <a:off x="6680520" y="5207760"/>
            <a:ext cx="2055960" cy="608400"/>
          </a:xfrm>
          <a:prstGeom prst="roundRect">
            <a:avLst>
              <a:gd name="adj" fmla="val 16667"/>
            </a:avLst>
          </a:prstGeom>
          <a:solidFill>
            <a:srgbClr val="5EB91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Store Vote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2565720" y="5207760"/>
            <a:ext cx="3656160" cy="608400"/>
          </a:xfrm>
          <a:prstGeom prst="diamond">
            <a:avLst/>
          </a:prstGeom>
          <a:solidFill>
            <a:srgbClr val="80808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Is user voted ? 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4664880" y="5756040"/>
            <a:ext cx="414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Yes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6223320" y="5207760"/>
            <a:ext cx="384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No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43560" y="15624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/>
          </p:nvPr>
        </p:nvSpPr>
        <p:spPr>
          <a:xfrm>
            <a:off x="266400" y="205560"/>
            <a:ext cx="8595720" cy="62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343080" indent="-34308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144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Modules :</a:t>
            </a:r>
            <a:endParaRPr lang="en-US" sz="1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Rectangle 4"/>
          <p:cNvSpPr/>
          <p:nvPr/>
        </p:nvSpPr>
        <p:spPr>
          <a:xfrm>
            <a:off x="275760" y="3599280"/>
            <a:ext cx="303084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Content Placeholder 5"/>
          <p:cNvSpPr/>
          <p:nvPr/>
        </p:nvSpPr>
        <p:spPr>
          <a:xfrm>
            <a:off x="677880" y="1371960"/>
            <a:ext cx="8594280" cy="34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User Interface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Voter Registration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Voting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Vote Verification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Result Management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6"/>
          <p:cNvSpPr/>
          <p:nvPr/>
        </p:nvSpPr>
        <p:spPr>
          <a:xfrm>
            <a:off x="282960" y="156600"/>
            <a:ext cx="859428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1</a:t>
            </a: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Arial"/>
              </a:rPr>
              <a:t>User Interface Module </a:t>
            </a: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7"/>
          <p:cNvSpPr/>
          <p:nvPr/>
        </p:nvSpPr>
        <p:spPr>
          <a:xfrm>
            <a:off x="549000" y="1143000"/>
            <a:ext cx="8594280" cy="548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Purpose: Provide a secure, intuitive front-end for all users (voters, admins, auditors).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Key Responsibilities: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Present registration, voting, and result views clearly.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Validate input before sending data to backend / blockchain.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Handle authentication flows and user feedback (errors, confirmations).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Key Features: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Responsive design for desktop and mobile.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Multi-language support (if in scope).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Accessibility-compliant layouts and controls.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Technology Stack 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Web: Javascript, Nodejs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Styling: CSS / TailwindCSS 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Integration: Express, Ganache.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3"/>
          <p:cNvSpPr/>
          <p:nvPr/>
        </p:nvSpPr>
        <p:spPr>
          <a:xfrm>
            <a:off x="282960" y="156600"/>
            <a:ext cx="859428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</a:t>
            </a:r>
            <a:r>
              <a:rPr lang="en-US" sz="2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"/>
              </a:rPr>
              <a:t>User Interface :</a:t>
            </a:r>
            <a:br>
              <a:rPr sz="3600"/>
            </a:b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5" name=""/>
          <p:cNvPicPr/>
          <p:nvPr/>
        </p:nvPicPr>
        <p:blipFill>
          <a:blip r:embed="rId1"/>
          <a:stretch/>
        </p:blipFill>
        <p:spPr>
          <a:xfrm>
            <a:off x="1211760" y="914400"/>
            <a:ext cx="7017840" cy="5150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8"/>
          <p:cNvSpPr/>
          <p:nvPr/>
        </p:nvSpPr>
        <p:spPr>
          <a:xfrm>
            <a:off x="-142560" y="177120"/>
            <a:ext cx="859428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2</a:t>
            </a: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US" sz="32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Voter Registration Module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9"/>
          <p:cNvSpPr/>
          <p:nvPr/>
        </p:nvSpPr>
        <p:spPr>
          <a:xfrm>
            <a:off x="549000" y="1143000"/>
            <a:ext cx="8594280" cy="548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Onboard eligible voters into the 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Ensure that only verified and valid identities can participate in voting.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Key Responsibilities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Securely capture voter identity and eligibility information.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Verify voter data through external ID or government registry systems (if available).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Generate unique voter credentials or cryptographic keys linked to the voter’s blockchain identity.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Benefits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Prevents unauthorized voting.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Establishes a trusted voter identity layer for the blockchain voting 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6"/>
          <p:cNvSpPr/>
          <p:nvPr/>
        </p:nvSpPr>
        <p:spPr>
          <a:xfrm>
            <a:off x="-142560" y="177120"/>
            <a:ext cx="951516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8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Registration Workflow, Security &amp; Compliance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17"/>
          <p:cNvSpPr/>
          <p:nvPr/>
        </p:nvSpPr>
        <p:spPr>
          <a:xfrm>
            <a:off x="549000" y="1143000"/>
            <a:ext cx="8594280" cy="548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Core Workflows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New voter registration and identity verification.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Updating voter information based on predefined system rules.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De-duplication checks to prevent multiple registrations.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Fraud detection mechanisms to identify suspicious activity.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Security &amp; Compliance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Follow KYC and jurisdiction-specific legal requirements.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Encryption of personally identifiable information (PII).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Strict access control policies.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Maintain audit logs for transparency and accountability.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4"/>
          <p:cNvSpPr/>
          <p:nvPr/>
        </p:nvSpPr>
        <p:spPr>
          <a:xfrm>
            <a:off x="-142560" y="177120"/>
            <a:ext cx="859428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32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Registration UI 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1" name=""/>
          <p:cNvPicPr/>
          <p:nvPr/>
        </p:nvPicPr>
        <p:blipFill>
          <a:blip r:embed="rId1"/>
          <a:stretch/>
        </p:blipFill>
        <p:spPr>
          <a:xfrm>
            <a:off x="1030320" y="1143000"/>
            <a:ext cx="7427880" cy="4723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0"/>
          <p:cNvSpPr/>
          <p:nvPr/>
        </p:nvSpPr>
        <p:spPr>
          <a:xfrm>
            <a:off x="282960" y="156600"/>
            <a:ext cx="859428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3</a:t>
            </a: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Voting Module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11"/>
          <p:cNvSpPr/>
          <p:nvPr/>
        </p:nvSpPr>
        <p:spPr>
          <a:xfrm>
            <a:off x="549000" y="1143000"/>
            <a:ext cx="8594280" cy="548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Allow voters to cast their votes securely and anonymously using blockchain technology.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Key Responsibilities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Display live ballots and candidate/options to authenticated and eligible voters.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Verify voter eligibility before allowing them to vote.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Enforce the “one person, one vote” rule to prevent duplicate voting.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Submit each vote as a blockchain transaction ensuring transparency and integrity.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Benefits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Secure and tamper-resistant voting process.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Ensures privacy and authenticity of voter participation.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	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8"/>
          <p:cNvSpPr/>
          <p:nvPr/>
        </p:nvSpPr>
        <p:spPr>
          <a:xfrm>
            <a:off x="282960" y="156600"/>
            <a:ext cx="859428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Voting Workflow, Quality &amp; Security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19"/>
          <p:cNvSpPr/>
          <p:nvPr/>
        </p:nvSpPr>
        <p:spPr>
          <a:xfrm>
            <a:off x="549000" y="1143000"/>
            <a:ext cx="8594280" cy="548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Core Workflows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Ballot selection and confirmation with a review screen.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Vote encryption and digital signing using voter cryptographic keys.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Transaction submission to blockchain for permanent record.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Handling network or transaction failures with retry mechanisms.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Quality &amp; Security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Use strong cryptography to protect ballot secrecy.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Prevent double voting through identity verification.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Protection against replay attacks and data tampering.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Maintain system reliability and auditability during voting.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5"/>
          <p:cNvSpPr/>
          <p:nvPr/>
        </p:nvSpPr>
        <p:spPr>
          <a:xfrm>
            <a:off x="282960" y="156600"/>
            <a:ext cx="859428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Noto Sans"/>
              </a:rPr>
              <a:t>Voting Module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7" name=""/>
          <p:cNvPicPr/>
          <p:nvPr/>
        </p:nvPicPr>
        <p:blipFill>
          <a:blip r:embed="rId1"/>
          <a:stretch/>
        </p:blipFill>
        <p:spPr>
          <a:xfrm>
            <a:off x="3032280" y="914400"/>
            <a:ext cx="3825720" cy="5778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74520" y="15624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Conclusion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Cloud Callout 3"/>
          <p:cNvSpPr/>
          <p:nvPr/>
        </p:nvSpPr>
        <p:spPr>
          <a:xfrm>
            <a:off x="2986560" y="5048640"/>
            <a:ext cx="4658400" cy="127332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bg1"/>
          </a:solidFill>
          <a:ln cap="rnd">
            <a:solidFill>
              <a:srgbClr val="6A8F1C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rebuchet MS"/>
              </a:rPr>
              <a:t>THANK YOU 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12"/>
          <p:cNvSpPr/>
          <p:nvPr/>
        </p:nvSpPr>
        <p:spPr>
          <a:xfrm>
            <a:off x="665640" y="857160"/>
            <a:ext cx="8594280" cy="444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 proposed blockchain-based voting system addresses major drawbacks of traditional electronic voting.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Decentralization eliminates single points of failure and increases system reliability.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Smart contracts enforce election rules automatically without human intervention.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 system enhances transparency, security, and voter trust.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 prototype demonstrates the practical feasibility of blockchain in electronic voting.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This work lays the foundation for future large-scale and national-level implementations.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1308</TotalTime>
  <Application>LibreOffice/26.2.0.3$Linux_X86_64 LibreOffice_project/620$Build-3</Application>
  <AppVersion>15.0000</AppVersion>
  <Words>40</Words>
  <Paragraphs>20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2024-12-13T12:01:40Z</dcterms:created>
  <dc:creator>vishalrameshv13@gmail.com</dc:creator>
  <dc:description/>
  <dc:language>en-US</dc:language>
  <cp:lastModifiedBy/>
  <dcterms:modified xsi:type="dcterms:W3CDTF">2026-03-05T19:32:37Z</dcterms:modified>
  <cp:revision>13</cp:revision>
  <dc:subject/>
  <dc:title>INVEST MATCH AI CLOUD BASED   STARTUP AND INVESTOR   MATCHING PLATFORM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13</vt:i4>
  </property>
</Properties>
</file>