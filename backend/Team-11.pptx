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theme/theme2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19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64" r:id="rId4"/>
    <p:sldMasterId id="2147483667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15.xml"/><Relationship Id="rId5" Type="http://schemas.openxmlformats.org/officeDocument/2006/relationships/slideMaster" Target="slideMasters/slideMaster17.xml"/><Relationship Id="rId6" Type="http://schemas.openxmlformats.org/officeDocument/2006/relationships/slideMaster" Target="slideMasters/slideMaster18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9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PlaceHolder 4"/>
          <p:cNvSpPr>
            <a:spLocks noGrp="1"/>
          </p:cNvSpPr>
          <p:nvPr>
            <p:ph type="dt" idx="55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PlaceHolder 5"/>
          <p:cNvSpPr>
            <a:spLocks noGrp="1"/>
          </p:cNvSpPr>
          <p:nvPr>
            <p:ph type="ftr" idx="56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PlaceHolder 6"/>
          <p:cNvSpPr>
            <a:spLocks noGrp="1"/>
          </p:cNvSpPr>
          <p:nvPr>
            <p:ph type="sldNum" idx="57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EEC1DD9-32E8-48D4-9EF0-7F75E4291D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5C32EEB-99FB-4D2A-BCAC-C6131A5274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956520"/>
            <a:ext cx="859572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F88CB6-D14E-4213-AFDC-519166A9D0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Name C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32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160" cy="302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5720" cy="5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720" cy="15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D9F180-4AD1-410B-829F-94D4F892D16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TextBox 23"/>
          <p:cNvSpPr/>
          <p:nvPr/>
        </p:nvSpPr>
        <p:spPr>
          <a:xfrm>
            <a:off x="541800" y="79020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24"/>
          <p:cNvSpPr/>
          <p:nvPr/>
        </p:nvSpPr>
        <p:spPr>
          <a:xfrm>
            <a:off x="8893080" y="288648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rue or Fal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51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52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3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8587080" cy="302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5720" cy="5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720" cy="15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7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8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9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AE5FE24-375A-4474-9CDA-975F01A37051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68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69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70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dt" idx="10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ftr" idx="11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12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690EA19-F70F-4446-A9BE-353891837654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84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8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8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967520" y="609480"/>
            <a:ext cx="1303560" cy="52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7059240" cy="52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dt" idx="13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ftr" idx="14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sldNum" idx="15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854E28A-3AAC-4A46-8380-B567493F49E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00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01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02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77160" y="2700720"/>
            <a:ext cx="8595720" cy="18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720" cy="85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dt" idx="16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ftr" idx="17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 type="sldNum" idx="18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89B5B5E-1B54-4155-ACC9-49F18BB54799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16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17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18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4182840" cy="387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>
            <a:off x="5090040" y="2160720"/>
            <a:ext cx="4182840" cy="387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dt" idx="19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ftr" idx="20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6"/>
          <p:cNvSpPr>
            <a:spLocks noGrp="1"/>
          </p:cNvSpPr>
          <p:nvPr>
            <p:ph type="sldNum" idx="21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EED0506-B670-4AE0-9357-6127C093815B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33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34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35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75720" y="2161080"/>
            <a:ext cx="4184640" cy="57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75720" y="2737080"/>
            <a:ext cx="4184640" cy="330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5088240" y="2161080"/>
            <a:ext cx="4184640" cy="57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body"/>
          </p:nvPr>
        </p:nvSpPr>
        <p:spPr>
          <a:xfrm>
            <a:off x="5088240" y="2737080"/>
            <a:ext cx="4184640" cy="330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8" name="PlaceHolder 6"/>
          <p:cNvSpPr>
            <a:spLocks noGrp="1"/>
          </p:cNvSpPr>
          <p:nvPr>
            <p:ph type="dt" idx="22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7"/>
          <p:cNvSpPr>
            <a:spLocks noGrp="1"/>
          </p:cNvSpPr>
          <p:nvPr>
            <p:ph type="ftr" idx="23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8"/>
          <p:cNvSpPr>
            <a:spLocks noGrp="1"/>
          </p:cNvSpPr>
          <p:nvPr>
            <p:ph type="sldNum" idx="24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37FC9B2-ADC9-4A33-B958-5F99949C10F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52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5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5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dt" idx="25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ftr" idx="26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sldNum" idx="27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94EF835-A264-4735-A0F2-4351782B03D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67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68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69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77160" y="1498680"/>
            <a:ext cx="3853440" cy="12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4760640" y="514800"/>
            <a:ext cx="4512600" cy="552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77160" y="2777040"/>
            <a:ext cx="3853440" cy="258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dt" idx="28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ftr" idx="29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 type="sldNum" idx="30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E1FA01B-BCB0-4646-B66E-05165C5C9444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84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8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8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77160" y="4800600"/>
            <a:ext cx="85957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8595720" cy="384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77160" y="5367240"/>
            <a:ext cx="8595720" cy="67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dt" idx="31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ftr" idx="32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6"/>
          <p:cNvSpPr>
            <a:spLocks noGrp="1"/>
          </p:cNvSpPr>
          <p:nvPr>
            <p:ph type="sldNum" idx="33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DDE070C-A06B-4530-B410-AF7C54D6368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01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02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03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34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5720" cy="156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dt" idx="34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ftr" idx="35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sldNum" idx="36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51F657C-1999-4521-BFC3-F7A1C68C8A6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17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18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19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160" cy="302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1366200" y="3632040"/>
            <a:ext cx="722340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5720" cy="156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dt" idx="37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PlaceHolder 5"/>
          <p:cNvSpPr>
            <a:spLocks noGrp="1"/>
          </p:cNvSpPr>
          <p:nvPr>
            <p:ph type="ftr" idx="38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PlaceHolder 6"/>
          <p:cNvSpPr>
            <a:spLocks noGrp="1"/>
          </p:cNvSpPr>
          <p:nvPr>
            <p:ph type="sldNum" idx="39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A5A9215-453B-4525-958D-7C42A593C12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TextBox 19"/>
          <p:cNvSpPr/>
          <p:nvPr/>
        </p:nvSpPr>
        <p:spPr>
          <a:xfrm>
            <a:off x="541800" y="79020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21"/>
          <p:cNvSpPr/>
          <p:nvPr/>
        </p:nvSpPr>
        <p:spPr>
          <a:xfrm>
            <a:off x="8893080" y="288648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36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37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38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9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77160" y="1932120"/>
            <a:ext cx="8595720" cy="259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5720" cy="15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40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ftr" idx="41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sldNum" idx="42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C973609-E371-4AD2-934F-92590EB357E9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52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5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5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dt" idx="43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4"/>
          <p:cNvSpPr>
            <a:spLocks noGrp="1"/>
          </p:cNvSpPr>
          <p:nvPr>
            <p:ph type="ftr" idx="44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PlaceHolder 5"/>
          <p:cNvSpPr>
            <a:spLocks noGrp="1"/>
          </p:cNvSpPr>
          <p:nvPr>
            <p:ph type="sldNum" idx="45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4374FB9-9114-4F24-A98E-71B16E05A4F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68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69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70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1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3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4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7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8" name="PlaceHolder 1"/>
          <p:cNvSpPr>
            <a:spLocks noGrp="1"/>
          </p:cNvSpPr>
          <p:nvPr>
            <p:ph type="dt" idx="46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ftr" idx="47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48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593A026-8340-4171-90DC-9B61F65E8164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77160" y="956520"/>
            <a:ext cx="859572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C7691D9B-A237-4DDB-BF13-5DDD3AB255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77160" y="956520"/>
            <a:ext cx="859572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A011146-24B4-4BC7-95BD-BA1893099F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677160" y="956520"/>
            <a:ext cx="859572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203091E-E8C6-4EC3-A8E2-45E2775057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677160" y="956520"/>
            <a:ext cx="859572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C3312CA-14DE-4284-9A5D-5EAD65D746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3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4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1080" y="-8640"/>
            <a:ext cx="12189960" cy="6867360"/>
            <a:chOff x="1080" y="-8640"/>
            <a:chExt cx="12189960" cy="6867360"/>
          </a:xfrm>
        </p:grpSpPr>
        <p:cxnSp>
          <p:nvCxnSpPr>
            <p:cNvPr id="14" name="Straight Connector 31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Isosceles Triangle 26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Isosceles Triangle 30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Isosceles Triangle 18"/>
            <p:cNvSpPr/>
            <p:nvPr/>
          </p:nvSpPr>
          <p:spPr>
            <a:xfrm rot="10800000">
              <a:off x="1080" y="1080"/>
              <a:ext cx="841680" cy="56649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7160" y="446400"/>
            <a:ext cx="8595720" cy="164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5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5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BE3AD39-84F7-4D72-8353-44B4F27A2D34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3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84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8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8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77160" y="994680"/>
            <a:ext cx="8595720" cy="5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ftr" idx="49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E5EA106-BBEE-49B4-A0E1-D07C318E5C0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dt" idx="51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301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02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03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677160" y="994680"/>
            <a:ext cx="8595720" cy="5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ftr" idx="52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sldNum" idx="53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86148CD-5024-48A8-9C06-518E053624E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PlaceHolder 5"/>
          <p:cNvSpPr>
            <a:spLocks noGrp="1"/>
          </p:cNvSpPr>
          <p:nvPr>
            <p:ph type="dt" idx="54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2"/>
    <p:sldLayoutId id="2147483671" r:id="rId3"/>
    <p:sldLayoutId id="2147483672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914400" y="-267120"/>
            <a:ext cx="8228880" cy="1866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Trebuchet MS"/>
              </a:rPr>
              <a:t>Design and Implementation of a Blockchain-Based E-Voting System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/>
          <p:nvPr/>
        </p:nvSpPr>
        <p:spPr>
          <a:xfrm>
            <a:off x="2286000" y="2286000"/>
            <a:ext cx="8499600" cy="28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TEAM MEMBERS 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S.THILLAIARASAN  ( 620822205114 )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M.RAMANA             (  620822205083 )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V.SUGUMARAN      ( 620822205107 )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K.UDHAY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      ( 620822205117 )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 GUIDE : MR. JEEVA. D, AP/IT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318960" y="27972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Problem Statement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1"/>
          <p:cNvSpPr/>
          <p:nvPr/>
        </p:nvSpPr>
        <p:spPr>
          <a:xfrm>
            <a:off x="457200" y="1371600"/>
            <a:ext cx="903744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Existing electronic voting systems lack transparency and verifiability for voters.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Voters cannot independently verify whether their votes are recorded correctly.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Centralized databases are vulnerable to cyber-attacks and unauthorized modifications.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Manual verification and audit processes are time-consuming and error-prone.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There is a need for a secure, transparent, and verifiable voting system that minimizes human intervention.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 challenge is to design a system that ensures one-person-one-vote while preserving data integrity.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91080" y="5184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Objective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/>
          <p:nvPr/>
        </p:nvSpPr>
        <p:spPr>
          <a:xfrm>
            <a:off x="457200" y="819000"/>
            <a:ext cx="8594280" cy="44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design a secure and transparent electronic voting system using blockchain technology.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prevent vote tampering and duplicate voting using smart contracts.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enable verifiable and immutable vote storage.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reduce reliance on centralized election authorities.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provide a simple and user-friendly interface for voters.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demonstrate a real-world application of blockchain in governance systems.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340560" y="0"/>
            <a:ext cx="825516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Existing System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ctangle 3"/>
          <p:cNvSpPr/>
          <p:nvPr/>
        </p:nvSpPr>
        <p:spPr>
          <a:xfrm>
            <a:off x="379440" y="3511800"/>
            <a:ext cx="350100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Disadvantage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4"/>
          <p:cNvSpPr/>
          <p:nvPr/>
        </p:nvSpPr>
        <p:spPr>
          <a:xfrm>
            <a:off x="834840" y="727920"/>
            <a:ext cx="8079840" cy="270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Centralized electronic voting infrastructure.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Election data stored in traditional databases.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 counting and result generation controlled by authorities.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Limited transparency for voters.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Manual audits required to verify results.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Content Placeholder 1"/>
          <p:cNvSpPr/>
          <p:nvPr/>
        </p:nvSpPr>
        <p:spPr>
          <a:xfrm>
            <a:off x="685800" y="4156920"/>
            <a:ext cx="8079840" cy="270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Single point of failure.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Susceptible to hacking and data manipulation.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Lack of voter trust and transparency.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Difficult to audit independently.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High operational and verification costs.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43560" y="15624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Proposed System :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ectangle 4"/>
          <p:cNvSpPr/>
          <p:nvPr/>
        </p:nvSpPr>
        <p:spPr>
          <a:xfrm>
            <a:off x="184680" y="3560400"/>
            <a:ext cx="312156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Advantage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5"/>
          <p:cNvSpPr/>
          <p:nvPr/>
        </p:nvSpPr>
        <p:spPr>
          <a:xfrm>
            <a:off x="685800" y="946080"/>
            <a:ext cx="8594280" cy="27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Blockchain-based decentralized voting system.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Smart contracts manage voter registration and voting logic.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Votes stored on blockchain ensuring immutability.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Transparent result computation.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Automated enforcement of election rules.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Content Placeholder 3"/>
          <p:cNvSpPr/>
          <p:nvPr/>
        </p:nvSpPr>
        <p:spPr>
          <a:xfrm>
            <a:off x="685800" y="4207680"/>
            <a:ext cx="8594280" cy="26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No single point of failure.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Tamper-proof and immutable vote records.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Improved transparency and trust.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Reduced manual verification.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High security through cryptographic techniques.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74160" y="51480"/>
            <a:ext cx="884088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SYSTEM ARCHITECTURE/FLOW DIAGRAM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2565720" y="1143000"/>
            <a:ext cx="3884400" cy="60840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User Interface / Web Page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2514600" y="4394880"/>
            <a:ext cx="3884400" cy="608400"/>
          </a:xfrm>
          <a:prstGeom prst="roundRect">
            <a:avLst>
              <a:gd name="adj" fmla="val 16667"/>
            </a:avLst>
          </a:prstGeom>
          <a:solidFill>
            <a:srgbClr val="FF542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Smart Contract ( Solidity 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2565720" y="3582000"/>
            <a:ext cx="3884400" cy="6080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Local Blockchain Network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2566080" y="2768760"/>
            <a:ext cx="3884400" cy="608400"/>
          </a:xfrm>
          <a:prstGeom prst="roundRect">
            <a:avLst>
              <a:gd name="adj" fmla="val 16667"/>
            </a:avLst>
          </a:prstGeom>
          <a:solidFill>
            <a:srgbClr val="FF860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Express API and validation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2565720" y="1955880"/>
            <a:ext cx="3884400" cy="608400"/>
          </a:xfrm>
          <a:prstGeom prst="roundRect">
            <a:avLst>
              <a:gd name="adj" fmla="val 16667"/>
            </a:avLst>
          </a:prstGeom>
          <a:solidFill>
            <a:srgbClr val="D4EA6B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Backend ( node.js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2565720" y="6020640"/>
            <a:ext cx="3884760" cy="608400"/>
          </a:xfrm>
          <a:prstGeom prst="roundRect">
            <a:avLst>
              <a:gd name="adj" fmla="val 16667"/>
            </a:avLst>
          </a:prstGeom>
          <a:solidFill>
            <a:srgbClr val="F10D0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Vote Denied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5994720" y="5478840"/>
            <a:ext cx="6858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394520" y="5817240"/>
            <a:ext cx="360" cy="203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394520" y="5004360"/>
            <a:ext cx="360" cy="203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394520" y="3378600"/>
            <a:ext cx="360" cy="203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394520" y="4191480"/>
            <a:ext cx="360" cy="203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4427280" y="2544840"/>
            <a:ext cx="360" cy="203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394520" y="1752840"/>
            <a:ext cx="360" cy="20304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6680520" y="5207760"/>
            <a:ext cx="2055960" cy="608400"/>
          </a:xfrm>
          <a:prstGeom prst="roundRect">
            <a:avLst>
              <a:gd name="adj" fmla="val 16667"/>
            </a:avLst>
          </a:prstGeom>
          <a:solidFill>
            <a:srgbClr val="5EB9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Store Vote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2565720" y="5207760"/>
            <a:ext cx="3656160" cy="608400"/>
          </a:xfrm>
          <a:prstGeom prst="diamond">
            <a:avLst/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Is user voted ?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4664880" y="5756040"/>
            <a:ext cx="414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Yes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6223320" y="5207760"/>
            <a:ext cx="38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No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43560" y="15624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266400" y="205560"/>
            <a:ext cx="8595720" cy="62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p>
            <a:pPr marL="343080" indent="-34308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N" sz="144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Modules :</a:t>
            </a:r>
            <a:endParaRPr lang="en-US" sz="1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4"/>
          <p:cNvSpPr/>
          <p:nvPr/>
        </p:nvSpPr>
        <p:spPr>
          <a:xfrm>
            <a:off x="275760" y="3599280"/>
            <a:ext cx="303084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Content Placeholder 5"/>
          <p:cNvSpPr/>
          <p:nvPr/>
        </p:nvSpPr>
        <p:spPr>
          <a:xfrm>
            <a:off x="677880" y="1371960"/>
            <a:ext cx="8594280" cy="34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User Interface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Voter Registration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Voting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 Verification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Result Management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6"/>
          <p:cNvSpPr/>
          <p:nvPr/>
        </p:nvSpPr>
        <p:spPr>
          <a:xfrm>
            <a:off x="282960" y="15660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1</a:t>
            </a:r>
            <a:r>
              <a:rPr lang="en-IN" sz="36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: </a:t>
            </a: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User Interface Module 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7"/>
          <p:cNvSpPr/>
          <p:nvPr/>
        </p:nvSpPr>
        <p:spPr>
          <a:xfrm>
            <a:off x="549000" y="1143000"/>
            <a:ext cx="859428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Purpose: Provide a secure, intuitive front-end for all users (voters, admins, auditors).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Responsibilities: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Present registration, voting, and result views clearly.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Validate input before sending data to backend / blockchain.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Handle authentication flows and user feedback (errors, confirmations).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Features: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Responsive design for desktop and mobile.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Multi-language support (if in scope).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Accessibility-compliant layouts and controls.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Technology Stack 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Web: Javascript, Nodejs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Styling: CSS / TailwindCSS 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Integration: Express, Ganache.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3"/>
          <p:cNvSpPr/>
          <p:nvPr/>
        </p:nvSpPr>
        <p:spPr>
          <a:xfrm>
            <a:off x="282960" y="15660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IN" sz="36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 </a:t>
            </a:r>
            <a:r>
              <a:rPr lang="en-US" sz="2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"/>
              </a:rPr>
              <a:t>User Interface :</a:t>
            </a:r>
            <a:br>
              <a:rPr sz="3600"/>
            </a:b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"/>
          <p:cNvPicPr/>
          <p:nvPr/>
        </p:nvPicPr>
        <p:blipFill>
          <a:blip r:embed="rId1"/>
          <a:stretch/>
        </p:blipFill>
        <p:spPr>
          <a:xfrm>
            <a:off x="1211760" y="914400"/>
            <a:ext cx="7017840" cy="5150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8"/>
          <p:cNvSpPr/>
          <p:nvPr/>
        </p:nvSpPr>
        <p:spPr>
          <a:xfrm>
            <a:off x="-142560" y="17712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2</a:t>
            </a:r>
            <a:r>
              <a:rPr lang="en-IN" sz="36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: </a:t>
            </a: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Voter Registration Module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9"/>
          <p:cNvSpPr/>
          <p:nvPr/>
        </p:nvSpPr>
        <p:spPr>
          <a:xfrm>
            <a:off x="549000" y="1143000"/>
            <a:ext cx="859428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Onboard eligible voters into the system.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 that only verified and valid identities can participate in 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Responsibilities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Securely capture voter identity and eligibility information.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Verify voter data through external ID or government registry systems (if available).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Generate unique voter credentials or cryptographic keys linked to the voter’s blockchain identity.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Benefits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Prevents unauthorized 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Establishes a trusted voter identity layer for the blockchain voting system.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6"/>
          <p:cNvSpPr/>
          <p:nvPr/>
        </p:nvSpPr>
        <p:spPr>
          <a:xfrm>
            <a:off x="-142560" y="177120"/>
            <a:ext cx="9515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8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Registration Workflow, Security &amp; Compliance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17"/>
          <p:cNvSpPr/>
          <p:nvPr/>
        </p:nvSpPr>
        <p:spPr>
          <a:xfrm>
            <a:off x="549000" y="1143000"/>
            <a:ext cx="859428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Core Workflows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New voter registration and identity verification.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Updating voter information based on predefined system rules.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De-duplication checks to prevent multiple registrations.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Fraud detection mechanisms to identify suspicious activity.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Security &amp; Compliance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Follow KYC and jurisdiction-specific legal requirements.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Encryption of personally identifiable information (PII).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Strict access control policies.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Maintain audit logs for transparency and accountability.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4"/>
          <p:cNvSpPr/>
          <p:nvPr/>
        </p:nvSpPr>
        <p:spPr>
          <a:xfrm>
            <a:off x="-142560" y="17712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Registration UI 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"/>
          <p:cNvPicPr/>
          <p:nvPr/>
        </p:nvPicPr>
        <p:blipFill>
          <a:blip r:embed="rId1"/>
          <a:stretch/>
        </p:blipFill>
        <p:spPr>
          <a:xfrm>
            <a:off x="1030320" y="1143000"/>
            <a:ext cx="7427880" cy="472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0"/>
          <p:cNvSpPr/>
          <p:nvPr/>
        </p:nvSpPr>
        <p:spPr>
          <a:xfrm>
            <a:off x="282960" y="15660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3</a:t>
            </a:r>
            <a:r>
              <a:rPr lang="en-IN" sz="3600" b="0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: </a:t>
            </a: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Voting Module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1"/>
          <p:cNvSpPr/>
          <p:nvPr/>
        </p:nvSpPr>
        <p:spPr>
          <a:xfrm>
            <a:off x="549000" y="1143000"/>
            <a:ext cx="859428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Allow voters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 cast their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votes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securely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anonymousl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y using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blockchain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technology.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Responsibiliti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Display live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ballots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candidate/o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ptions to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authenticate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eligible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Verify voter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eligibility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before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allowing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them to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Enforce the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“one person,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one vote”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rule to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duplicate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Submit each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 as a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blockchain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transaction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ensuring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transparenc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y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Benefits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Secure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tamper-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resistant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voting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process.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Ensures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privacy and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authenticity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of voter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participation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.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	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8"/>
          <p:cNvSpPr/>
          <p:nvPr/>
        </p:nvSpPr>
        <p:spPr>
          <a:xfrm>
            <a:off x="282960" y="15660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Voting Workflow, Quality &amp; Security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9"/>
          <p:cNvSpPr/>
          <p:nvPr/>
        </p:nvSpPr>
        <p:spPr>
          <a:xfrm>
            <a:off x="549000" y="1143000"/>
            <a:ext cx="859428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Core Workflows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Ballot selection and confirmation with a review screen.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 encryption and digital signing using voter cryptographic keys.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Transaction submission to blockchain for permanent record.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Handling network or transaction failures with retry mechanisms.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Quality &amp; Security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Use strong cryptography to protect ballot secrecy.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 double voting through identity verification.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Protection against replay attacks and data tampering.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Maintain system reliability and auditability during 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5"/>
          <p:cNvSpPr/>
          <p:nvPr/>
        </p:nvSpPr>
        <p:spPr>
          <a:xfrm>
            <a:off x="282960" y="156600"/>
            <a:ext cx="85942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Voting Module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9" name=""/>
          <p:cNvPicPr/>
          <p:nvPr/>
        </p:nvPicPr>
        <p:blipFill>
          <a:blip r:embed="rId1"/>
          <a:stretch/>
        </p:blipFill>
        <p:spPr>
          <a:xfrm>
            <a:off x="3032280" y="914400"/>
            <a:ext cx="3825720" cy="577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74520" y="15624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Conclusion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loud Callout 3"/>
          <p:cNvSpPr/>
          <p:nvPr/>
        </p:nvSpPr>
        <p:spPr>
          <a:xfrm>
            <a:off x="2986560" y="5048640"/>
            <a:ext cx="4658400" cy="1273320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bg1"/>
          </a:solidFill>
          <a:ln cap="rnd">
            <a:solidFill>
              <a:srgbClr val="6A8F1C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rebuchet MS"/>
              </a:rPr>
              <a:t>THANK YOU 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12"/>
          <p:cNvSpPr/>
          <p:nvPr/>
        </p:nvSpPr>
        <p:spPr>
          <a:xfrm>
            <a:off x="665640" y="857160"/>
            <a:ext cx="8594280" cy="44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 proposed blockchain-based voting system addresses major drawbacks of traditional electronic 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Decentralization eliminates single points of failure and increases system reliability.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Smart contracts enforce election rules automatically without human intervention.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 system enhances transparency, security, and voter trust.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The prototype demonstrates the practical feasibility of blockchain in electronic voting.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This work lays the foundation for future large-scale and national-level implementations.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1314</TotalTime>
  <Application>LibreOffice/26.2.0.3$Linux_X86_64 LibreOffice_project/620$Build-3</Application>
  <AppVersion>15.0000</AppVersion>
  <Words>40</Words>
  <Paragraphs>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2024-12-13T12:01:40Z</dcterms:created>
  <dc:creator>vishalrameshv13@gmail.com</dc:creator>
  <dc:description/>
  <dc:language>en-US</dc:language>
  <cp:lastModifiedBy/>
  <dcterms:modified xsi:type="dcterms:W3CDTF">2026-03-05T19:38:36Z</dcterms:modified>
  <cp:revision>14</cp:revision>
  <dc:subject/>
  <dc:title>INVEST MATCH AI CLOUD BASED   STARTUP AND INVESTOR   MATCHING PLATFORM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