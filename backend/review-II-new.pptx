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2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6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8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64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15.xml"/><Relationship Id="rId5" Type="http://schemas.openxmlformats.org/officeDocument/2006/relationships/slideMaster" Target="slideMasters/slideMaster16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 type="dt" idx="5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PlaceHolder 5"/>
          <p:cNvSpPr>
            <a:spLocks noGrp="1"/>
          </p:cNvSpPr>
          <p:nvPr>
            <p:ph type="ftr" idx="5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PlaceHolder 6"/>
          <p:cNvSpPr>
            <a:spLocks noGrp="1"/>
          </p:cNvSpPr>
          <p:nvPr>
            <p:ph type="sldNum" idx="5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4186D1D-7C24-4224-B9E3-C0CA0935171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D64E9C7-4FA4-41BD-86CB-2BFE50E7B1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C9C881-284A-4373-ABBD-02AD264609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32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3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4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320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320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D740970-80AF-4B6F-829A-84D6D3023BCE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1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49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50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51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500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5000" cy="330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500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5000" cy="330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dt" idx="7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7"/>
          <p:cNvSpPr>
            <a:spLocks noGrp="1"/>
          </p:cNvSpPr>
          <p:nvPr>
            <p:ph type="ftr" idx="8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8"/>
          <p:cNvSpPr>
            <a:spLocks noGrp="1"/>
          </p:cNvSpPr>
          <p:nvPr>
            <p:ph type="sldNum" idx="9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DFC1AD7-5B5E-4F10-9F0A-002F482AC07D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68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69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70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dt" idx="10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ftr" idx="11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12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487B8A7-49F8-46DD-9F62-633988E48371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83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84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85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77160" y="1498680"/>
            <a:ext cx="3853800" cy="12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760640" y="514800"/>
            <a:ext cx="4512960" cy="552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3800" cy="258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dt" idx="13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ftr" idx="14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6"/>
          <p:cNvSpPr>
            <a:spLocks noGrp="1"/>
          </p:cNvSpPr>
          <p:nvPr>
            <p:ph type="sldNum" idx="15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3032E76-FF61-4A40-99BD-77000794ADD9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00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01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02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77160" y="4800600"/>
            <a:ext cx="85960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6080" cy="384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6080" cy="67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dt" idx="16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ftr" idx="17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sldNum" idx="18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5FB7F8B-1302-4CE5-A4AE-C41D69A825C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17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18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19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340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080" cy="157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dt" idx="19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ftr" idx="20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sldNum" idx="21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73B6116-ACB4-4A08-971F-93190EF46B7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33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34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35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520" cy="302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376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080" cy="157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dt" idx="22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ftr" idx="23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6"/>
          <p:cNvSpPr>
            <a:spLocks noGrp="1"/>
          </p:cNvSpPr>
          <p:nvPr>
            <p:ph type="sldNum" idx="24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3ACD3BB-685A-4F3B-96C1-40730EB15AB3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TextBox 19"/>
          <p:cNvSpPr/>
          <p:nvPr/>
        </p:nvSpPr>
        <p:spPr>
          <a:xfrm>
            <a:off x="541800" y="79020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21"/>
          <p:cNvSpPr/>
          <p:nvPr/>
        </p:nvSpPr>
        <p:spPr>
          <a:xfrm>
            <a:off x="8893080" y="288648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52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53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54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677160" y="1932120"/>
            <a:ext cx="8596080" cy="259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080" cy="151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dt" idx="25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ftr" idx="26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 type="sldNum" idx="27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D9ADCBC-D672-4CD6-9CD1-D5B5799309B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Name 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68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69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70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520" cy="302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080" cy="5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080" cy="151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dt" idx="28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ftr" idx="29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PlaceHolder 6"/>
          <p:cNvSpPr>
            <a:spLocks noGrp="1"/>
          </p:cNvSpPr>
          <p:nvPr>
            <p:ph type="sldNum" idx="30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6609EA1-DAD2-47A3-B0A1-D01E5BA2CED3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TextBox 23"/>
          <p:cNvSpPr/>
          <p:nvPr/>
        </p:nvSpPr>
        <p:spPr>
          <a:xfrm>
            <a:off x="541800" y="79020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24"/>
          <p:cNvSpPr/>
          <p:nvPr/>
        </p:nvSpPr>
        <p:spPr>
          <a:xfrm>
            <a:off x="8893080" y="288648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ue or Fal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87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88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89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587440" cy="302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080" cy="5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080" cy="151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 type="dt" idx="31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PlaceHolder 5"/>
          <p:cNvSpPr>
            <a:spLocks noGrp="1"/>
          </p:cNvSpPr>
          <p:nvPr>
            <p:ph type="ftr" idx="32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PlaceHolder 6"/>
          <p:cNvSpPr>
            <a:spLocks noGrp="1"/>
          </p:cNvSpPr>
          <p:nvPr>
            <p:ph type="sldNum" idx="33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1F5652E-8F88-4D4A-9B78-945A14218332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204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05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06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dt" idx="34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 type="ftr" idx="35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PlaceHolder 5"/>
          <p:cNvSpPr>
            <a:spLocks noGrp="1"/>
          </p:cNvSpPr>
          <p:nvPr>
            <p:ph type="sldNum" idx="36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CFF8A8D-9C35-4CC4-BE24-A5E335E7E9E7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220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21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22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7967520" y="609480"/>
            <a:ext cx="1303920" cy="52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9600" cy="52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dt" idx="37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 type="ftr" idx="38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PlaceHolder 5"/>
          <p:cNvSpPr>
            <a:spLocks noGrp="1"/>
          </p:cNvSpPr>
          <p:nvPr>
            <p:ph type="sldNum" idx="39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3B3AF68-00BE-4B88-836D-F69739EB1B89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236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37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38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77160" y="2700720"/>
            <a:ext cx="8596080" cy="182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080" cy="85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dt" idx="40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 type="ftr" idx="41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PlaceHolder 5"/>
          <p:cNvSpPr>
            <a:spLocks noGrp="1"/>
          </p:cNvSpPr>
          <p:nvPr>
            <p:ph type="sldNum" idx="42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DADB607-DC71-4686-A4E0-3E96FBAF5D51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252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53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54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dt" idx="43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ftr" idx="44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PlaceHolder 5"/>
          <p:cNvSpPr>
            <a:spLocks noGrp="1"/>
          </p:cNvSpPr>
          <p:nvPr>
            <p:ph type="sldNum" idx="45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B92ACC5-ED3F-4538-8C99-C3BB3BC2CAF5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288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89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90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4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5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6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7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8" name="PlaceHolder 1"/>
          <p:cNvSpPr>
            <a:spLocks noGrp="1"/>
          </p:cNvSpPr>
          <p:nvPr>
            <p:ph type="dt" idx="49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ftr" idx="50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51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3B90364-1AAD-4344-8F4A-B1648D7EF255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1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30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D283940E-502E-4FEB-8659-ADCE9D0DDF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4E890332-AE40-4559-A3CD-F223866BB6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3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4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5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Group 6"/>
          <p:cNvGrpSpPr/>
          <p:nvPr/>
        </p:nvGrpSpPr>
        <p:grpSpPr>
          <a:xfrm>
            <a:off x="720" y="-8640"/>
            <a:ext cx="12190680" cy="6867000"/>
            <a:chOff x="720" y="-8640"/>
            <a:chExt cx="12190680" cy="6867000"/>
          </a:xfrm>
        </p:grpSpPr>
        <p:cxnSp>
          <p:nvCxnSpPr>
            <p:cNvPr id="14" name="Straight Connector 31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5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6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Isosceles Triangle 26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Isosceles Triangle 30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Isosceles Triangle 18"/>
            <p:cNvSpPr/>
            <p:nvPr/>
          </p:nvSpPr>
          <p:spPr>
            <a:xfrm rot="10800000">
              <a:off x="720" y="720"/>
              <a:ext cx="842040" cy="56653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77160" y="446400"/>
            <a:ext cx="859608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5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ftr" idx="1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2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AFAF8C8-C275-4B63-91D2-A590A4A1956C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3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268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69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70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dt" idx="46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PlaceHolder 4"/>
          <p:cNvSpPr>
            <a:spLocks noGrp="1"/>
          </p:cNvSpPr>
          <p:nvPr>
            <p:ph type="ftr" idx="47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PlaceHolder 5"/>
          <p:cNvSpPr>
            <a:spLocks noGrp="1"/>
          </p:cNvSpPr>
          <p:nvPr>
            <p:ph type="sldNum" idx="48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E4EDD4E-6632-494A-8212-14A95FEA8FB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  <p:sldLayoutId id="214748366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914400" y="-267120"/>
            <a:ext cx="8229240" cy="1866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rebuchet MS"/>
              </a:rPr>
              <a:t>Design and Implementation of a Blockchain-Based E-Voting System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2"/>
          <p:cNvSpPr/>
          <p:nvPr/>
        </p:nvSpPr>
        <p:spPr>
          <a:xfrm>
            <a:off x="2286000" y="2286000"/>
            <a:ext cx="8499960" cy="28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TEAM MEMBERS 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S.THILLAIARASAN  ( 620822205114 )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M.RAMANA             (  620822205083 )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V.SUGUMARAN      ( 620822205107 )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K.UDHAY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     ( 620822205117 )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GUIDE : MR. JEEVA. D, AP/IT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318960" y="27972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Problem Statement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12" name="PlaceHolder 1"/>
          <p:cNvSpPr/>
          <p:nvPr/>
        </p:nvSpPr>
        <p:spPr>
          <a:xfrm>
            <a:off x="457200" y="1371600"/>
            <a:ext cx="903780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Existing electronic voting systems lack transparency and verifiability for voters.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Voters cannot independently verify whether their votes are recorded correctly.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Centralized databases are vulnerable to cyber-attacks and unauthorized modifications.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Manual verification and audit processes are time-consuming and error-prone.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There is a need for a secure, transparent, and verifiable voting system that minimizes human intervention.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 challenge is to design a system that ensures one-person-one-vote while preserving data integrity.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Objective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14" name="PlaceHolder 3"/>
          <p:cNvSpPr/>
          <p:nvPr/>
        </p:nvSpPr>
        <p:spPr>
          <a:xfrm>
            <a:off x="549000" y="1732680"/>
            <a:ext cx="8594640" cy="443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design a secure and transparent electronic voting system using blockchain technology.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prevent vote tampering and duplicate voting using smart contracts.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enable verifiable and immutable vote storage.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reduce reliance on centralized election authorities.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provide a simple and user-friendly interface for voters.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demonstrate a real-world application of blockchain in governance systems.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340560" y="0"/>
            <a:ext cx="825552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Existing System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16" name="Rectangle 3"/>
          <p:cNvSpPr/>
          <p:nvPr/>
        </p:nvSpPr>
        <p:spPr>
          <a:xfrm>
            <a:off x="379440" y="3570120"/>
            <a:ext cx="350136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Disadvantage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4"/>
          <p:cNvSpPr/>
          <p:nvPr/>
        </p:nvSpPr>
        <p:spPr>
          <a:xfrm>
            <a:off x="834840" y="727920"/>
            <a:ext cx="8080200" cy="270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Centralized electronic voting infrastructure.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Election data stored in traditional databases.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Vote counting and result generation controlled by authorities.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Limited transparency for voters.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Manual audits required to verify results.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Content Placeholder 1"/>
          <p:cNvSpPr/>
          <p:nvPr/>
        </p:nvSpPr>
        <p:spPr>
          <a:xfrm>
            <a:off x="685800" y="4156920"/>
            <a:ext cx="8080200" cy="270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Single point of failure.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Susceptible to hacking and data manipulation.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Lack of voter trust and transparency.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Difficult to audit independently.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High operational and verification costs.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43560" y="15624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Proposed System :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0" name="Rectangle 4"/>
          <p:cNvSpPr/>
          <p:nvPr/>
        </p:nvSpPr>
        <p:spPr>
          <a:xfrm>
            <a:off x="184680" y="3560400"/>
            <a:ext cx="312192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Advantage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5"/>
          <p:cNvSpPr/>
          <p:nvPr/>
        </p:nvSpPr>
        <p:spPr>
          <a:xfrm>
            <a:off x="685800" y="946080"/>
            <a:ext cx="8594640" cy="271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Blockchain-based decentralized voting 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Smart contracts manage voter registration and voting logic.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Votes stored on blockchain ensuring immutability.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Transparent result computation.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Automated enforcement of election rules.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Content Placeholder 3"/>
          <p:cNvSpPr/>
          <p:nvPr/>
        </p:nvSpPr>
        <p:spPr>
          <a:xfrm>
            <a:off x="685800" y="4207680"/>
            <a:ext cx="859464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No single point of failure.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Tamper-proof and immutable vote records.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Improved transparency and trust.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Reduced manual verification.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High security through cryptographic techniques.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74160" y="51480"/>
            <a:ext cx="884124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SYSTEM ARCHITECTURE/FLOW DIAGRAM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4" name=""/>
          <p:cNvSpPr/>
          <p:nvPr/>
        </p:nvSpPr>
        <p:spPr>
          <a:xfrm>
            <a:off x="2565720" y="1143000"/>
            <a:ext cx="3884760" cy="60876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User Interface / Web Page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2514600" y="4394880"/>
            <a:ext cx="3884760" cy="608760"/>
          </a:xfrm>
          <a:prstGeom prst="roundRect">
            <a:avLst>
              <a:gd name="adj" fmla="val 16667"/>
            </a:avLst>
          </a:prstGeom>
          <a:solidFill>
            <a:srgbClr val="FF5429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Smart Contract ( Solidity )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2565720" y="3582000"/>
            <a:ext cx="3884760" cy="60840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Local Blockchain Network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2566080" y="2768760"/>
            <a:ext cx="3884760" cy="608760"/>
          </a:xfrm>
          <a:prstGeom prst="roundRect">
            <a:avLst>
              <a:gd name="adj" fmla="val 16667"/>
            </a:avLst>
          </a:prstGeom>
          <a:solidFill>
            <a:srgbClr val="FF860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Express API and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2565720" y="1955880"/>
            <a:ext cx="3884760" cy="608760"/>
          </a:xfrm>
          <a:prstGeom prst="roundRect">
            <a:avLst>
              <a:gd name="adj" fmla="val 16667"/>
            </a:avLst>
          </a:prstGeom>
          <a:solidFill>
            <a:srgbClr val="D4EA6B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Backend ( node.js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2565720" y="6020640"/>
            <a:ext cx="3885120" cy="608760"/>
          </a:xfrm>
          <a:prstGeom prst="roundRect">
            <a:avLst>
              <a:gd name="adj" fmla="val 16667"/>
            </a:avLst>
          </a:prstGeom>
          <a:solidFill>
            <a:srgbClr val="F10D0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Vote Denied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5994720" y="5478840"/>
            <a:ext cx="6858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31" name=""/>
          <p:cNvSpPr/>
          <p:nvPr/>
        </p:nvSpPr>
        <p:spPr>
          <a:xfrm>
            <a:off x="4394520" y="5817240"/>
            <a:ext cx="360" cy="2034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32" name=""/>
          <p:cNvSpPr/>
          <p:nvPr/>
        </p:nvSpPr>
        <p:spPr>
          <a:xfrm>
            <a:off x="4394520" y="5004360"/>
            <a:ext cx="360" cy="2034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33" name=""/>
          <p:cNvSpPr/>
          <p:nvPr/>
        </p:nvSpPr>
        <p:spPr>
          <a:xfrm>
            <a:off x="4394520" y="3378600"/>
            <a:ext cx="360" cy="2034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34" name=""/>
          <p:cNvSpPr/>
          <p:nvPr/>
        </p:nvSpPr>
        <p:spPr>
          <a:xfrm>
            <a:off x="4394520" y="4191480"/>
            <a:ext cx="360" cy="2034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35" name=""/>
          <p:cNvSpPr/>
          <p:nvPr/>
        </p:nvSpPr>
        <p:spPr>
          <a:xfrm>
            <a:off x="4427280" y="2544840"/>
            <a:ext cx="360" cy="2034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36" name=""/>
          <p:cNvSpPr/>
          <p:nvPr/>
        </p:nvSpPr>
        <p:spPr>
          <a:xfrm>
            <a:off x="4394520" y="1752840"/>
            <a:ext cx="360" cy="20304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37" name=""/>
          <p:cNvSpPr/>
          <p:nvPr/>
        </p:nvSpPr>
        <p:spPr>
          <a:xfrm>
            <a:off x="6680520" y="5207760"/>
            <a:ext cx="2056320" cy="608760"/>
          </a:xfrm>
          <a:prstGeom prst="roundRect">
            <a:avLst>
              <a:gd name="adj" fmla="val 16667"/>
            </a:avLst>
          </a:prstGeom>
          <a:solidFill>
            <a:srgbClr val="5EB91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Store Vote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2565720" y="5207760"/>
            <a:ext cx="3656520" cy="608760"/>
          </a:xfrm>
          <a:prstGeom prst="diamond">
            <a:avLst/>
          </a:prstGeom>
          <a:solidFill>
            <a:srgbClr val="80808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Is user voted ?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4664880" y="5756040"/>
            <a:ext cx="414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Yes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6223320" y="5207760"/>
            <a:ext cx="384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No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43560" y="15624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266400" y="205560"/>
            <a:ext cx="8596080" cy="62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343080" indent="-34308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144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Modules :</a:t>
            </a:r>
            <a:endParaRPr lang="en-US" sz="14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indent="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43" name="Rectangle 4"/>
          <p:cNvSpPr/>
          <p:nvPr/>
        </p:nvSpPr>
        <p:spPr>
          <a:xfrm>
            <a:off x="275760" y="3599280"/>
            <a:ext cx="30312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Content Placeholder 5"/>
          <p:cNvSpPr/>
          <p:nvPr/>
        </p:nvSpPr>
        <p:spPr>
          <a:xfrm>
            <a:off x="677880" y="1371960"/>
            <a:ext cx="8594640" cy="34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User Interface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Voter Registration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Voting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Vote Verification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Result Management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6"/>
          <p:cNvSpPr/>
          <p:nvPr/>
        </p:nvSpPr>
        <p:spPr>
          <a:xfrm>
            <a:off x="282960" y="156600"/>
            <a:ext cx="859464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1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US" sz="2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"/>
              </a:rPr>
              <a:t>User Interface Module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</a:t>
            </a: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7"/>
          <p:cNvSpPr/>
          <p:nvPr/>
        </p:nvSpPr>
        <p:spPr>
          <a:xfrm>
            <a:off x="549000" y="1143000"/>
            <a:ext cx="8594640" cy="548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Purpose: Provide a secure, intuitive front-end for all users (voters, admins, auditors).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Key Responsibilities: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Present registration, voting, and result views clearly.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Validate input before sending data to backend / blockchain.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Handle authentication flows and user feedback (errors, confirmations).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Key Features: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Responsive design for desktop and mobile.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Multi-language support (if in scope).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Accessibility-compliant layouts and controls.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Technology Stack 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Web: Javascript, Nodejs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Styling: CSS / TailwindCSS 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Integration: Express, Ganache.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8"/>
          <p:cNvSpPr/>
          <p:nvPr/>
        </p:nvSpPr>
        <p:spPr>
          <a:xfrm>
            <a:off x="-142560" y="177120"/>
            <a:ext cx="859464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2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US" sz="26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"/>
              </a:rPr>
              <a:t>Voter Registration Module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9"/>
          <p:cNvSpPr/>
          <p:nvPr/>
        </p:nvSpPr>
        <p:spPr>
          <a:xfrm>
            <a:off x="549000" y="1143000"/>
            <a:ext cx="8594640" cy="548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Purpose: Onboard eligible voters and ensure only valid identities can cast votes.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Key Responsibilities: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Capture voter identity and eligibility details securely.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Interface with external ID/registry systems (if applicable).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Issue unique voter credentials / keys linked to blockchain identity.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Core Flows: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New voter registration and verification.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Updating voter details (within configured rules).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De-duplication and fraud detection checks.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Security &amp; Compliance: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KYC / legal requirements (jurisdiction-specific).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Encryption of PII, strict access controls, and audit logs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0"/>
          <p:cNvSpPr/>
          <p:nvPr/>
        </p:nvSpPr>
        <p:spPr>
          <a:xfrm>
            <a:off x="282960" y="156600"/>
            <a:ext cx="859464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3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US" sz="26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"/>
              </a:rPr>
              <a:t>Voting Module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11"/>
          <p:cNvSpPr/>
          <p:nvPr/>
        </p:nvSpPr>
        <p:spPr>
          <a:xfrm>
            <a:off x="549000" y="1143000"/>
            <a:ext cx="8594640" cy="548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Purpose: Enable voters to cast ballots securely and anonymously via the blockchain.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Key Responsibilities: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Present live ballots and options to authenticated, eligible voters.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Validate voter eligibility and “one person, one vote” rules.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Submit votes as blockchain transactions with end-to-end integrity.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Core Flows: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Ballot selection and confirmation (review screen).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Vote encryption and signing with voter keys.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Handling network / transaction failures and retries.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Quality &amp; Security: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Strong cryptography for ballot secrecy.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Protection against double-voting, replay, and tampering.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74520" y="15624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Conclusion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52" name="Cloud Callout 3"/>
          <p:cNvSpPr/>
          <p:nvPr/>
        </p:nvSpPr>
        <p:spPr>
          <a:xfrm>
            <a:off x="2986560" y="5048640"/>
            <a:ext cx="4658760" cy="127368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bg1"/>
          </a:solidFill>
          <a:ln cap="rnd">
            <a:solidFill>
              <a:srgbClr val="6A8F1C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rebuchet MS"/>
              </a:rPr>
              <a:t>THANK YOU 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12"/>
          <p:cNvSpPr/>
          <p:nvPr/>
        </p:nvSpPr>
        <p:spPr>
          <a:xfrm>
            <a:off x="665640" y="857160"/>
            <a:ext cx="8594640" cy="444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 proposed blockchain-based voting system addresses major drawbacks of traditional electronic voting.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Decentralization eliminates single points of failure and increases system reliability.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Smart contracts enforce election rules automatically without human intervention.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 system enhances transparency, security, and voter trust.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 prototype demonstrates the practical feasibility of blockchain in electronic voting.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This work lays the foundation for future large-scale and national-level implementations.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1302</TotalTime>
  <Application>LibreOffice/26.2.0.3$Linux_X86_64 LibreOffice_project/620$Build-3</Application>
  <AppVersion>15.0000</AppVersion>
  <Words>40</Words>
  <Paragraphs>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2024-12-13T12:01:40Z</dcterms:created>
  <dc:creator>vishalrameshv13@gmail.com</dc:creator>
  <dc:description/>
  <dc:language>en-US</dc:language>
  <cp:lastModifiedBy/>
  <dcterms:modified xsi:type="dcterms:W3CDTF">2026-02-24T10:02:46Z</dcterms:modified>
  <cp:revision>12</cp:revision>
  <dc:subject/>
  <dc:title>INVEST MATCH AI CLOUD BASED   STARTUP AND INVESTOR   MATCHING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13</vt:i4>
  </property>
</Properties>
</file>